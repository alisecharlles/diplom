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  <p:sldId id="258" r:id="rId4"/>
    <p:sldId id="259" r:id="rId5"/>
    <p:sldId id="261" r:id="rId6"/>
    <p:sldId id="262" r:id="rId7"/>
    <p:sldId id="260" r:id="rId8"/>
    <p:sldId id="267" r:id="rId9"/>
    <p:sldId id="268" r:id="rId10"/>
    <p:sldId id="269" r:id="rId11"/>
    <p:sldId id="263" r:id="rId12"/>
    <p:sldId id="264" r:id="rId13"/>
    <p:sldId id="265" r:id="rId14"/>
    <p:sldId id="271" r:id="rId15"/>
    <p:sldId id="266" r:id="rId16"/>
    <p:sldId id="270" r:id="rId17"/>
  </p:sldIdLst>
  <p:sldSz cx="12192000" cy="6858000"/>
  <p:notesSz cx="6858000" cy="9144000"/>
  <p:custDataLst>
    <p:tags r:id="rId18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66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717"/>
    <p:restoredTop sz="94694"/>
  </p:normalViewPr>
  <p:slideViewPr>
    <p:cSldViewPr snapToGrid="0">
      <p:cViewPr>
        <p:scale>
          <a:sx n="67" d="100"/>
          <a:sy n="67" d="100"/>
        </p:scale>
        <p:origin x="584" y="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BBE6FE-80AF-E652-8933-62F848585F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4EE70A9-0876-3CF2-DBA4-D61B48F020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3FC045-8CD5-9CEE-7107-773192F49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387DB-3535-E542-AD53-9916EE25A0C8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B3B1527-1853-ADA0-801E-E1A5D47F6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0A8730-78A8-08C4-BAB8-C67BA6CE5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F786F-6FC3-A04D-9A3D-A4E193FD13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000882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2D8920-3AAE-8044-069C-4A5CFA383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A2AD43-0C17-C408-DFC6-5FE03310F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A25A70-21C3-2F98-EFAB-1A7D6EC5B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387DB-3535-E542-AD53-9916EE25A0C8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BF4F96-B999-35AD-6121-C797B1AAF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84E086-CFC2-5E24-EDBD-390C78947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F786F-6FC3-A04D-9A3D-A4E193FD13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915164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B22361-8A74-C984-A535-DD63EA544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4B27099-8C58-DFE8-ABF9-8CE4DFF70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387DB-3535-E542-AD53-9916EE25A0C8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8A6BC42-AC0C-5655-CDAF-A26995078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5C25DF9-6CBA-3BD0-9EDB-033999280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F786F-6FC3-A04D-9A3D-A4E193FD13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593125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8CCFD9-2E89-4074-895E-AC5E46A97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313C2AD-6841-3C27-5627-340A871DC3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04B854-DC2B-B698-52BA-BFAE86E5B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8387DB-3535-E542-AD53-9916EE25A0C8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2E797C-F60B-EF12-8E29-B79A469E6A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4EC16D-BE50-058B-6A37-B1B1E01CE1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6F786F-6FC3-A04D-9A3D-A4E193FD13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6711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9" Type="http://schemas.openxmlformats.org/officeDocument/2006/relationships/image" Target="../media/image1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58E8CA-1B51-14DE-03C4-971E03053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9466" y="257138"/>
            <a:ext cx="7533068" cy="1325563"/>
          </a:xfrm>
        </p:spPr>
        <p:txBody>
          <a:bodyPr/>
          <a:lstStyle/>
          <a:p>
            <a:pPr algn="ctr"/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Компьютерная Академия ТОП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16FA94-2E19-E271-2CE1-F833AF26ECFD}"/>
              </a:ext>
            </a:extLst>
          </p:cNvPr>
          <p:cNvSpPr txBox="1"/>
          <p:nvPr/>
        </p:nvSpPr>
        <p:spPr>
          <a:xfrm>
            <a:off x="5091805" y="1213369"/>
            <a:ext cx="2008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Дипломная работа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5C8FD-2EF4-BC50-F3A5-2C5DF1904E96}"/>
              </a:ext>
            </a:extLst>
          </p:cNvPr>
          <p:cNvSpPr txBox="1"/>
          <p:nvPr/>
        </p:nvSpPr>
        <p:spPr>
          <a:xfrm>
            <a:off x="1815921" y="2343955"/>
            <a:ext cx="883490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20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и разработка веб-ориентированной обучающей системы формирования I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T-</a:t>
            </a:r>
            <a:r>
              <a:rPr lang="ru-RU" sz="3200">
                <a:latin typeface="Times New Roman" panose="02020603050405020304" pitchFamily="18" charset="0"/>
                <a:cs typeface="Times New Roman" panose="02020603050405020304" pitchFamily="18" charset="0"/>
              </a:rPr>
              <a:t>компетенций с использованием механизмов геймификации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0352AF-FF83-33A3-7FDB-8692B6ACEC5A}"/>
              </a:ext>
            </a:extLst>
          </p:cNvPr>
          <p:cNvSpPr txBox="1"/>
          <p:nvPr/>
        </p:nvSpPr>
        <p:spPr>
          <a:xfrm>
            <a:off x="6839754" y="5303593"/>
            <a:ext cx="55254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Автор: Сайфутдинова А. Е</a:t>
            </a:r>
          </a:p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по дипломной работе: Ардинцев М. А.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911B8F-28B9-48FC-E661-01ED9F97DE8F}"/>
              </a:ext>
            </a:extLst>
          </p:cNvPr>
          <p:cNvSpPr txBox="1"/>
          <p:nvPr/>
        </p:nvSpPr>
        <p:spPr>
          <a:xfrm>
            <a:off x="4781818" y="6492875"/>
            <a:ext cx="1601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Казань. 2026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5999947-2691-FD52-67FB-3726F0F0B6C0}"/>
              </a:ext>
            </a:extLst>
          </p:cNvPr>
          <p:cNvSpPr/>
          <p:nvPr/>
        </p:nvSpPr>
        <p:spPr>
          <a:xfrm>
            <a:off x="-115582" y="-279400"/>
            <a:ext cx="1100667" cy="7416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Месяц 13">
            <a:extLst>
              <a:ext uri="{FF2B5EF4-FFF2-40B4-BE49-F238E27FC236}">
                <a16:creationId xmlns:a16="http://schemas.microsoft.com/office/drawing/2014/main" id="{45DFE577-2005-BF97-60BD-3BCD0C3AD22B}"/>
              </a:ext>
            </a:extLst>
          </p:cNvPr>
          <p:cNvSpPr/>
          <p:nvPr/>
        </p:nvSpPr>
        <p:spPr>
          <a:xfrm rot="3218456">
            <a:off x="868376" y="-995533"/>
            <a:ext cx="1234440" cy="2149418"/>
          </a:xfrm>
          <a:prstGeom prst="moon">
            <a:avLst/>
          </a:prstGeom>
          <a:solidFill>
            <a:srgbClr val="6366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Месяц 14">
            <a:extLst>
              <a:ext uri="{FF2B5EF4-FFF2-40B4-BE49-F238E27FC236}">
                <a16:creationId xmlns:a16="http://schemas.microsoft.com/office/drawing/2014/main" id="{9FA3B15E-92FB-4588-BE75-BA250A38DF86}"/>
              </a:ext>
            </a:extLst>
          </p:cNvPr>
          <p:cNvSpPr/>
          <p:nvPr/>
        </p:nvSpPr>
        <p:spPr>
          <a:xfrm rot="17894346">
            <a:off x="1027190" y="5742809"/>
            <a:ext cx="1234440" cy="2149418"/>
          </a:xfrm>
          <a:prstGeom prst="moon">
            <a:avLst/>
          </a:prstGeom>
          <a:solidFill>
            <a:srgbClr val="6366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C2ABAA23-2430-EE7A-3ACB-E4C726DEAD86}"/>
              </a:ext>
            </a:extLst>
          </p:cNvPr>
          <p:cNvSpPr/>
          <p:nvPr/>
        </p:nvSpPr>
        <p:spPr>
          <a:xfrm>
            <a:off x="2329466" y="6074229"/>
            <a:ext cx="1066877" cy="106317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70C7945-9F1D-CB7C-3448-5AE4CE97EE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21071" y="-196273"/>
            <a:ext cx="1511644" cy="1511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9271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7DF76E7-74E5-FECC-EDDB-7A2EA314A3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02664" y="400732"/>
            <a:ext cx="3386667" cy="735280"/>
          </a:xfrm>
        </p:spPr>
        <p:txBody>
          <a:bodyPr>
            <a:normAutofit/>
          </a:bodyPr>
          <a:lstStyle/>
          <a:p>
            <a:r>
              <a:rPr lang="ru-RU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4CE2520-102B-DBFB-DBF9-0F0B7FEE60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956770"/>
            <a:ext cx="4601980" cy="29012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2D75D3-6901-5B01-ACE8-BD23B690DF9E}"/>
              </a:ext>
            </a:extLst>
          </p:cNvPr>
          <p:cNvSpPr txBox="1"/>
          <p:nvPr/>
        </p:nvSpPr>
        <p:spPr>
          <a:xfrm>
            <a:off x="2549239" y="1306823"/>
            <a:ext cx="70935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Сегодня спрос на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IT-</a:t>
            </a: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специальность огромен, но новички часто сталкиваются с проблемой: учебники слишком скучные, а практика оторвана от реальности, и самое главное потеря интереса на ранних этапах. Я решила создать инструмент, который объединяет теорию и практику в игровом формате, чтобы поддерживать мотивацию студента на каждом этапе. </a:t>
            </a:r>
            <a:b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Месяц 2">
            <a:extLst>
              <a:ext uri="{FF2B5EF4-FFF2-40B4-BE49-F238E27FC236}">
                <a16:creationId xmlns:a16="http://schemas.microsoft.com/office/drawing/2014/main" id="{F152AC7D-7673-143B-EF94-3B27723F3620}"/>
              </a:ext>
            </a:extLst>
          </p:cNvPr>
          <p:cNvSpPr/>
          <p:nvPr/>
        </p:nvSpPr>
        <p:spPr>
          <a:xfrm rot="2634066">
            <a:off x="-228452" y="-831869"/>
            <a:ext cx="1311539" cy="2631455"/>
          </a:xfrm>
          <a:custGeom>
            <a:avLst/>
            <a:gdLst>
              <a:gd name="csX0" fmla="*/ 1295235 w 1311539"/>
              <a:gd name="csY0" fmla="*/ 2631455 h 2631455"/>
              <a:gd name="csX1" fmla="*/ 0 w 1311539"/>
              <a:gd name="csY1" fmla="*/ 1270882 h 2631455"/>
              <a:gd name="csX2" fmla="*/ 1311539 w 1311539"/>
              <a:gd name="csY2" fmla="*/ 0 h 2631455"/>
              <a:gd name="csX3" fmla="*/ 1295235 w 1311539"/>
              <a:gd name="csY3" fmla="*/ 2631455 h 26314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311539" h="2631455">
                <a:moveTo>
                  <a:pt x="1295235" y="2631455"/>
                </a:moveTo>
                <a:cubicBezTo>
                  <a:pt x="-8981" y="1254088"/>
                  <a:pt x="1317882" y="2657466"/>
                  <a:pt x="0" y="1270882"/>
                </a:cubicBezTo>
                <a:cubicBezTo>
                  <a:pt x="643890" y="674048"/>
                  <a:pt x="274716" y="1028201"/>
                  <a:pt x="1311539" y="0"/>
                </a:cubicBezTo>
                <a:cubicBezTo>
                  <a:pt x="785075" y="836164"/>
                  <a:pt x="768771" y="1795291"/>
                  <a:pt x="1295235" y="2631455"/>
                </a:cubicBezTo>
                <a:close/>
              </a:path>
            </a:pathLst>
          </a:custGeom>
          <a:solidFill>
            <a:srgbClr val="6366F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Месяц 2">
            <a:extLst>
              <a:ext uri="{FF2B5EF4-FFF2-40B4-BE49-F238E27FC236}">
                <a16:creationId xmlns:a16="http://schemas.microsoft.com/office/drawing/2014/main" id="{636B9906-95EC-D668-439A-69B67004A20F}"/>
              </a:ext>
            </a:extLst>
          </p:cNvPr>
          <p:cNvSpPr/>
          <p:nvPr/>
        </p:nvSpPr>
        <p:spPr>
          <a:xfrm rot="13415570">
            <a:off x="11104816" y="5062162"/>
            <a:ext cx="1311539" cy="2631455"/>
          </a:xfrm>
          <a:custGeom>
            <a:avLst/>
            <a:gdLst>
              <a:gd name="csX0" fmla="*/ 1295235 w 1311539"/>
              <a:gd name="csY0" fmla="*/ 2631455 h 2631455"/>
              <a:gd name="csX1" fmla="*/ 0 w 1311539"/>
              <a:gd name="csY1" fmla="*/ 1270882 h 2631455"/>
              <a:gd name="csX2" fmla="*/ 1311539 w 1311539"/>
              <a:gd name="csY2" fmla="*/ 0 h 2631455"/>
              <a:gd name="csX3" fmla="*/ 1295235 w 1311539"/>
              <a:gd name="csY3" fmla="*/ 2631455 h 26314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311539" h="2631455">
                <a:moveTo>
                  <a:pt x="1295235" y="2631455"/>
                </a:moveTo>
                <a:cubicBezTo>
                  <a:pt x="-8981" y="1254088"/>
                  <a:pt x="1317882" y="2657466"/>
                  <a:pt x="0" y="1270882"/>
                </a:cubicBezTo>
                <a:cubicBezTo>
                  <a:pt x="643890" y="674048"/>
                  <a:pt x="274716" y="1028201"/>
                  <a:pt x="1311539" y="0"/>
                </a:cubicBezTo>
                <a:cubicBezTo>
                  <a:pt x="785075" y="836164"/>
                  <a:pt x="768771" y="1795291"/>
                  <a:pt x="1295235" y="2631455"/>
                </a:cubicBezTo>
                <a:close/>
              </a:path>
            </a:pathLst>
          </a:custGeom>
          <a:solidFill>
            <a:srgbClr val="6366F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035028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5A99D8D5-99A5-19CC-1F4C-1CC647610D0B}"/>
              </a:ext>
            </a:extLst>
          </p:cNvPr>
          <p:cNvSpPr/>
          <p:nvPr/>
        </p:nvSpPr>
        <p:spPr>
          <a:xfrm>
            <a:off x="2216727" y="-104747"/>
            <a:ext cx="7038109" cy="15042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FFC3C3-20B4-9218-D51B-24D2A811AC25}"/>
              </a:ext>
            </a:extLst>
          </p:cNvPr>
          <p:cNvSpPr txBox="1"/>
          <p:nvPr/>
        </p:nvSpPr>
        <p:spPr>
          <a:xfrm>
            <a:off x="2341419" y="1953491"/>
            <a:ext cx="90885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платформы для изучения программирования, объединяющей теорию,       практику, геймификацию и ИИ для повышения вовлечённости и эффективности обучения.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B406F-8AA2-6539-A9CA-758DF805981A}"/>
              </a:ext>
            </a:extLst>
          </p:cNvPr>
          <p:cNvSpPr txBox="1"/>
          <p:nvPr/>
        </p:nvSpPr>
        <p:spPr>
          <a:xfrm>
            <a:off x="1454727" y="1953491"/>
            <a:ext cx="152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ru-RU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" name="7-конечная звезда 6">
            <a:extLst>
              <a:ext uri="{FF2B5EF4-FFF2-40B4-BE49-F238E27FC236}">
                <a16:creationId xmlns:a16="http://schemas.microsoft.com/office/drawing/2014/main" id="{60D7D74E-25E2-C9BA-9D6B-B2FEFF04E078}"/>
              </a:ext>
            </a:extLst>
          </p:cNvPr>
          <p:cNvSpPr/>
          <p:nvPr/>
        </p:nvSpPr>
        <p:spPr>
          <a:xfrm>
            <a:off x="1205345" y="2068907"/>
            <a:ext cx="249382" cy="230832"/>
          </a:xfrm>
          <a:prstGeom prst="star7">
            <a:avLst/>
          </a:prstGeom>
          <a:solidFill>
            <a:srgbClr val="6366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7-конечная звезда 7">
            <a:extLst>
              <a:ext uri="{FF2B5EF4-FFF2-40B4-BE49-F238E27FC236}">
                <a16:creationId xmlns:a16="http://schemas.microsoft.com/office/drawing/2014/main" id="{6A47D314-1F43-CAEA-87B5-C89FB09EA74A}"/>
              </a:ext>
            </a:extLst>
          </p:cNvPr>
          <p:cNvSpPr/>
          <p:nvPr/>
        </p:nvSpPr>
        <p:spPr>
          <a:xfrm>
            <a:off x="1205345" y="3313583"/>
            <a:ext cx="249382" cy="230832"/>
          </a:xfrm>
          <a:prstGeom prst="star7">
            <a:avLst/>
          </a:prstGeom>
          <a:solidFill>
            <a:srgbClr val="6366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F29261-6442-0D4D-EE1D-C6ACA916C276}"/>
              </a:ext>
            </a:extLst>
          </p:cNvPr>
          <p:cNvSpPr txBox="1"/>
          <p:nvPr/>
        </p:nvSpPr>
        <p:spPr>
          <a:xfrm>
            <a:off x="1454727" y="3198167"/>
            <a:ext cx="16625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D813D0-25BA-ACC1-FE31-4DDF63D33DB7}"/>
              </a:ext>
            </a:extLst>
          </p:cNvPr>
          <p:cNvSpPr txBox="1"/>
          <p:nvPr/>
        </p:nvSpPr>
        <p:spPr>
          <a:xfrm>
            <a:off x="2069276" y="3659832"/>
            <a:ext cx="45244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архитектуры приложения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БД и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функционала обучения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Внедрение геймификации и ИИ</a:t>
            </a:r>
          </a:p>
        </p:txBody>
      </p:sp>
      <p:sp>
        <p:nvSpPr>
          <p:cNvPr id="14" name="Месяц 13">
            <a:extLst>
              <a:ext uri="{FF2B5EF4-FFF2-40B4-BE49-F238E27FC236}">
                <a16:creationId xmlns:a16="http://schemas.microsoft.com/office/drawing/2014/main" id="{7E3CBB37-C470-9B9C-67E5-13D5507A58DB}"/>
              </a:ext>
            </a:extLst>
          </p:cNvPr>
          <p:cNvSpPr/>
          <p:nvPr/>
        </p:nvSpPr>
        <p:spPr>
          <a:xfrm rot="6719636">
            <a:off x="-171162" y="-2329199"/>
            <a:ext cx="2026463" cy="3790226"/>
          </a:xfrm>
          <a:prstGeom prst="moon">
            <a:avLst>
              <a:gd name="adj" fmla="val 71892"/>
            </a:avLst>
          </a:prstGeom>
          <a:solidFill>
            <a:srgbClr val="6366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Месяц 15">
            <a:extLst>
              <a:ext uri="{FF2B5EF4-FFF2-40B4-BE49-F238E27FC236}">
                <a16:creationId xmlns:a16="http://schemas.microsoft.com/office/drawing/2014/main" id="{5C936AF1-8BD5-D633-2551-5757D746AAD0}"/>
              </a:ext>
            </a:extLst>
          </p:cNvPr>
          <p:cNvSpPr/>
          <p:nvPr/>
        </p:nvSpPr>
        <p:spPr>
          <a:xfrm rot="4100296">
            <a:off x="9568345" y="-2229056"/>
            <a:ext cx="2026463" cy="3790226"/>
          </a:xfrm>
          <a:prstGeom prst="moon">
            <a:avLst>
              <a:gd name="adj" fmla="val 71892"/>
            </a:avLst>
          </a:prstGeom>
          <a:solidFill>
            <a:srgbClr val="6366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667925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732F80-BA3D-29DC-6256-D1D24F70F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7638" y="0"/>
            <a:ext cx="6896724" cy="1325563"/>
          </a:xfrm>
        </p:spPr>
        <p:txBody>
          <a:bodyPr/>
          <a:lstStyle/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Инструменты и технологии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B73CCD-C466-41E5-6BEB-9CD1D5169229}"/>
              </a:ext>
            </a:extLst>
          </p:cNvPr>
          <p:cNvSpPr txBox="1"/>
          <p:nvPr/>
        </p:nvSpPr>
        <p:spPr>
          <a:xfrm>
            <a:off x="4979933" y="1340981"/>
            <a:ext cx="55124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Для создания базы данных я выбрала </a:t>
            </a:r>
            <a:r>
              <a:rPr lang="ru-RU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osgresSQL</a:t>
            </a:r>
            <a:endParaRPr lang="ru-RU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ED607A14-DE31-E9D3-774C-0073280B3F28}"/>
              </a:ext>
            </a:extLst>
          </p:cNvPr>
          <p:cNvGrpSpPr/>
          <p:nvPr/>
        </p:nvGrpSpPr>
        <p:grpSpPr>
          <a:xfrm>
            <a:off x="4790706" y="3118700"/>
            <a:ext cx="1933812" cy="2269952"/>
            <a:chOff x="4835768" y="1965937"/>
            <a:chExt cx="1933812" cy="2269952"/>
          </a:xfrm>
        </p:grpSpPr>
        <p:sp>
          <p:nvSpPr>
            <p:cNvPr id="33" name="Скругленный прямоугольник 32">
              <a:extLst>
                <a:ext uri="{FF2B5EF4-FFF2-40B4-BE49-F238E27FC236}">
                  <a16:creationId xmlns:a16="http://schemas.microsoft.com/office/drawing/2014/main" id="{27950ED3-459A-3F72-4506-FF343DF4ED53}"/>
                </a:ext>
              </a:extLst>
            </p:cNvPr>
            <p:cNvSpPr/>
            <p:nvPr/>
          </p:nvSpPr>
          <p:spPr>
            <a:xfrm>
              <a:off x="4835769" y="2004647"/>
              <a:ext cx="1694672" cy="2231242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CD07F6B-E65F-7C79-13BA-9A7B8F8A7824}"/>
                </a:ext>
              </a:extLst>
            </p:cNvPr>
            <p:cNvSpPr txBox="1"/>
            <p:nvPr/>
          </p:nvSpPr>
          <p:spPr>
            <a:xfrm>
              <a:off x="5318670" y="1965937"/>
              <a:ext cx="7288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/>
                <a:t>Users</a:t>
              </a:r>
              <a:endParaRPr lang="ru-RU" sz="160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87262A3-E802-A393-4614-18510A94A98B}"/>
                </a:ext>
              </a:extLst>
            </p:cNvPr>
            <p:cNvSpPr txBox="1"/>
            <p:nvPr/>
          </p:nvSpPr>
          <p:spPr>
            <a:xfrm>
              <a:off x="4917848" y="2201660"/>
              <a:ext cx="1851732" cy="199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400"/>
                <a:t>ID</a:t>
              </a:r>
            </a:p>
            <a:p>
              <a:pPr>
                <a:lnSpc>
                  <a:spcPct val="150000"/>
                </a:lnSpc>
              </a:pPr>
              <a:r>
                <a:rPr lang="en-US" sz="1400"/>
                <a:t>Username</a:t>
              </a:r>
            </a:p>
            <a:p>
              <a:pPr>
                <a:lnSpc>
                  <a:spcPct val="150000"/>
                </a:lnSpc>
              </a:pPr>
              <a:r>
                <a:rPr lang="en-US" sz="1400"/>
                <a:t>Email</a:t>
              </a:r>
            </a:p>
            <a:p>
              <a:pPr>
                <a:lnSpc>
                  <a:spcPct val="150000"/>
                </a:lnSpc>
              </a:pPr>
              <a:r>
                <a:rPr lang="en-US" sz="1400" err="1"/>
                <a:t>Password_hash</a:t>
              </a:r>
              <a:endParaRPr lang="en-US" sz="1400"/>
            </a:p>
            <a:p>
              <a:pPr>
                <a:lnSpc>
                  <a:spcPct val="150000"/>
                </a:lnSpc>
              </a:pPr>
              <a:r>
                <a:rPr lang="en-US" sz="1400"/>
                <a:t>Level</a:t>
              </a:r>
            </a:p>
            <a:p>
              <a:pPr>
                <a:lnSpc>
                  <a:spcPct val="150000"/>
                </a:lnSpc>
              </a:pPr>
              <a:r>
                <a:rPr lang="en-US" sz="1400"/>
                <a:t>experience</a:t>
              </a:r>
              <a:endParaRPr lang="ru-RU" sz="1400"/>
            </a:p>
          </p:txBody>
        </p:sp>
        <p:cxnSp>
          <p:nvCxnSpPr>
            <p:cNvPr id="37" name="Прямая соединительная линия 36">
              <a:extLst>
                <a:ext uri="{FF2B5EF4-FFF2-40B4-BE49-F238E27FC236}">
                  <a16:creationId xmlns:a16="http://schemas.microsoft.com/office/drawing/2014/main" id="{92EDE881-EC39-A902-15C7-B391DF21F9DA}"/>
                </a:ext>
              </a:extLst>
            </p:cNvPr>
            <p:cNvCxnSpPr/>
            <p:nvPr/>
          </p:nvCxnSpPr>
          <p:spPr>
            <a:xfrm>
              <a:off x="4835769" y="2304491"/>
              <a:ext cx="1694672" cy="0"/>
            </a:xfrm>
            <a:prstGeom prst="line">
              <a:avLst/>
            </a:prstGeom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>
              <a:extLst>
                <a:ext uri="{FF2B5EF4-FFF2-40B4-BE49-F238E27FC236}">
                  <a16:creationId xmlns:a16="http://schemas.microsoft.com/office/drawing/2014/main" id="{6E96D81F-D9B7-AA85-E425-0FFCCE94CE68}"/>
                </a:ext>
              </a:extLst>
            </p:cNvPr>
            <p:cNvCxnSpPr/>
            <p:nvPr/>
          </p:nvCxnSpPr>
          <p:spPr>
            <a:xfrm>
              <a:off x="4835769" y="2562909"/>
              <a:ext cx="1694672" cy="0"/>
            </a:xfrm>
            <a:prstGeom prst="line">
              <a:avLst/>
            </a:prstGeom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Прямая соединительная линия 38">
              <a:extLst>
                <a:ext uri="{FF2B5EF4-FFF2-40B4-BE49-F238E27FC236}">
                  <a16:creationId xmlns:a16="http://schemas.microsoft.com/office/drawing/2014/main" id="{380664CC-ECD8-EE1E-C1E8-17D01EDF33A2}"/>
                </a:ext>
              </a:extLst>
            </p:cNvPr>
            <p:cNvCxnSpPr/>
            <p:nvPr/>
          </p:nvCxnSpPr>
          <p:spPr>
            <a:xfrm>
              <a:off x="4835768" y="2880961"/>
              <a:ext cx="1694672" cy="0"/>
            </a:xfrm>
            <a:prstGeom prst="line">
              <a:avLst/>
            </a:prstGeom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единительная линия 39">
              <a:extLst>
                <a:ext uri="{FF2B5EF4-FFF2-40B4-BE49-F238E27FC236}">
                  <a16:creationId xmlns:a16="http://schemas.microsoft.com/office/drawing/2014/main" id="{7F1C5986-FC6C-8277-631E-7AE6F3EDE6C6}"/>
                </a:ext>
              </a:extLst>
            </p:cNvPr>
            <p:cNvCxnSpPr/>
            <p:nvPr/>
          </p:nvCxnSpPr>
          <p:spPr>
            <a:xfrm>
              <a:off x="4835768" y="3200619"/>
              <a:ext cx="1694672" cy="0"/>
            </a:xfrm>
            <a:prstGeom prst="line">
              <a:avLst/>
            </a:prstGeom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Прямая соединительная линия 40">
              <a:extLst>
                <a:ext uri="{FF2B5EF4-FFF2-40B4-BE49-F238E27FC236}">
                  <a16:creationId xmlns:a16="http://schemas.microsoft.com/office/drawing/2014/main" id="{9B09CFEA-0B4C-A419-9DAC-80A0C7354B14}"/>
                </a:ext>
              </a:extLst>
            </p:cNvPr>
            <p:cNvCxnSpPr/>
            <p:nvPr/>
          </p:nvCxnSpPr>
          <p:spPr>
            <a:xfrm>
              <a:off x="4835768" y="3529117"/>
              <a:ext cx="1694672" cy="0"/>
            </a:xfrm>
            <a:prstGeom prst="line">
              <a:avLst/>
            </a:prstGeom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Прямая соединительная линия 41">
              <a:extLst>
                <a:ext uri="{FF2B5EF4-FFF2-40B4-BE49-F238E27FC236}">
                  <a16:creationId xmlns:a16="http://schemas.microsoft.com/office/drawing/2014/main" id="{9C6A87B5-BF47-36BE-3FC4-3F57EE4BBFB1}"/>
                </a:ext>
              </a:extLst>
            </p:cNvPr>
            <p:cNvCxnSpPr/>
            <p:nvPr/>
          </p:nvCxnSpPr>
          <p:spPr>
            <a:xfrm>
              <a:off x="4835768" y="3828673"/>
              <a:ext cx="1694672" cy="0"/>
            </a:xfrm>
            <a:prstGeom prst="line">
              <a:avLst/>
            </a:prstGeom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71F842F0-60DD-7003-6066-788E8ACA43FD}"/>
              </a:ext>
            </a:extLst>
          </p:cNvPr>
          <p:cNvGrpSpPr/>
          <p:nvPr/>
        </p:nvGrpSpPr>
        <p:grpSpPr>
          <a:xfrm>
            <a:off x="7280633" y="3118700"/>
            <a:ext cx="1933812" cy="2269952"/>
            <a:chOff x="4835768" y="1965937"/>
            <a:chExt cx="1933812" cy="2269952"/>
          </a:xfrm>
        </p:grpSpPr>
        <p:sp>
          <p:nvSpPr>
            <p:cNvPr id="45" name="Скругленный прямоугольник 44">
              <a:extLst>
                <a:ext uri="{FF2B5EF4-FFF2-40B4-BE49-F238E27FC236}">
                  <a16:creationId xmlns:a16="http://schemas.microsoft.com/office/drawing/2014/main" id="{D8C867E5-7CC9-AE82-4C92-2E6D328AF6DF}"/>
                </a:ext>
              </a:extLst>
            </p:cNvPr>
            <p:cNvSpPr/>
            <p:nvPr/>
          </p:nvSpPr>
          <p:spPr>
            <a:xfrm>
              <a:off x="4835769" y="2004647"/>
              <a:ext cx="1694672" cy="2231242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A52BE92-887A-9F41-D7FD-7F85B3F6A806}"/>
                </a:ext>
              </a:extLst>
            </p:cNvPr>
            <p:cNvSpPr txBox="1"/>
            <p:nvPr/>
          </p:nvSpPr>
          <p:spPr>
            <a:xfrm>
              <a:off x="5318670" y="1965937"/>
              <a:ext cx="7288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/>
                <a:t>Task</a:t>
              </a:r>
              <a:endParaRPr lang="ru-RU" sz="160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DD5F29B-6EBF-A5E4-2AB1-FE25131B6728}"/>
                </a:ext>
              </a:extLst>
            </p:cNvPr>
            <p:cNvSpPr txBox="1"/>
            <p:nvPr/>
          </p:nvSpPr>
          <p:spPr>
            <a:xfrm>
              <a:off x="4917848" y="2201660"/>
              <a:ext cx="1851732" cy="199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400"/>
                <a:t>ID</a:t>
              </a:r>
            </a:p>
            <a:p>
              <a:pPr>
                <a:lnSpc>
                  <a:spcPct val="150000"/>
                </a:lnSpc>
              </a:pPr>
              <a:r>
                <a:rPr lang="en-US" sz="1400" err="1"/>
                <a:t>Lesson_id</a:t>
              </a:r>
              <a:endParaRPr lang="en-US" sz="1400"/>
            </a:p>
            <a:p>
              <a:pPr>
                <a:lnSpc>
                  <a:spcPct val="150000"/>
                </a:lnSpc>
              </a:pPr>
              <a:r>
                <a:rPr lang="en-US" sz="1400"/>
                <a:t>title</a:t>
              </a:r>
            </a:p>
            <a:p>
              <a:pPr>
                <a:lnSpc>
                  <a:spcPct val="150000"/>
                </a:lnSpc>
              </a:pPr>
              <a:r>
                <a:rPr lang="en-US" sz="1400"/>
                <a:t>description</a:t>
              </a:r>
            </a:p>
            <a:p>
              <a:pPr>
                <a:lnSpc>
                  <a:spcPct val="150000"/>
                </a:lnSpc>
              </a:pPr>
              <a:r>
                <a:rPr lang="en-US" sz="1400"/>
                <a:t>Difficulty	</a:t>
              </a:r>
            </a:p>
            <a:p>
              <a:pPr>
                <a:lnSpc>
                  <a:spcPct val="150000"/>
                </a:lnSpc>
              </a:pPr>
              <a:r>
                <a:rPr lang="en-US" sz="1400" err="1"/>
                <a:t>xp</a:t>
              </a:r>
              <a:endParaRPr lang="ru-RU" sz="1400"/>
            </a:p>
          </p:txBody>
        </p:sp>
        <p:cxnSp>
          <p:nvCxnSpPr>
            <p:cNvPr id="48" name="Прямая соединительная линия 47">
              <a:extLst>
                <a:ext uri="{FF2B5EF4-FFF2-40B4-BE49-F238E27FC236}">
                  <a16:creationId xmlns:a16="http://schemas.microsoft.com/office/drawing/2014/main" id="{EB09CFB9-AAE5-E61F-7ED7-7492DEAE05DE}"/>
                </a:ext>
              </a:extLst>
            </p:cNvPr>
            <p:cNvCxnSpPr/>
            <p:nvPr/>
          </p:nvCxnSpPr>
          <p:spPr>
            <a:xfrm>
              <a:off x="4835769" y="2304491"/>
              <a:ext cx="1694672" cy="0"/>
            </a:xfrm>
            <a:prstGeom prst="line">
              <a:avLst/>
            </a:prstGeom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Прямая соединительная линия 48">
              <a:extLst>
                <a:ext uri="{FF2B5EF4-FFF2-40B4-BE49-F238E27FC236}">
                  <a16:creationId xmlns:a16="http://schemas.microsoft.com/office/drawing/2014/main" id="{D82DD4E5-231C-4EF1-A877-AE22C115F795}"/>
                </a:ext>
              </a:extLst>
            </p:cNvPr>
            <p:cNvCxnSpPr/>
            <p:nvPr/>
          </p:nvCxnSpPr>
          <p:spPr>
            <a:xfrm>
              <a:off x="4835769" y="2562909"/>
              <a:ext cx="1694672" cy="0"/>
            </a:xfrm>
            <a:prstGeom prst="line">
              <a:avLst/>
            </a:prstGeom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Прямая соединительная линия 49">
              <a:extLst>
                <a:ext uri="{FF2B5EF4-FFF2-40B4-BE49-F238E27FC236}">
                  <a16:creationId xmlns:a16="http://schemas.microsoft.com/office/drawing/2014/main" id="{1A85EEA7-61CD-E10A-4A8F-874183FD0454}"/>
                </a:ext>
              </a:extLst>
            </p:cNvPr>
            <p:cNvCxnSpPr/>
            <p:nvPr/>
          </p:nvCxnSpPr>
          <p:spPr>
            <a:xfrm>
              <a:off x="4835768" y="2880961"/>
              <a:ext cx="1694672" cy="0"/>
            </a:xfrm>
            <a:prstGeom prst="line">
              <a:avLst/>
            </a:prstGeom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Прямая соединительная линия 50">
              <a:extLst>
                <a:ext uri="{FF2B5EF4-FFF2-40B4-BE49-F238E27FC236}">
                  <a16:creationId xmlns:a16="http://schemas.microsoft.com/office/drawing/2014/main" id="{27A5DE26-7FE5-A44B-EC5C-CD26B32761ED}"/>
                </a:ext>
              </a:extLst>
            </p:cNvPr>
            <p:cNvCxnSpPr/>
            <p:nvPr/>
          </p:nvCxnSpPr>
          <p:spPr>
            <a:xfrm>
              <a:off x="4835768" y="3200619"/>
              <a:ext cx="1694672" cy="0"/>
            </a:xfrm>
            <a:prstGeom prst="line">
              <a:avLst/>
            </a:prstGeom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Прямая соединительная линия 51">
              <a:extLst>
                <a:ext uri="{FF2B5EF4-FFF2-40B4-BE49-F238E27FC236}">
                  <a16:creationId xmlns:a16="http://schemas.microsoft.com/office/drawing/2014/main" id="{BD24C216-3DB2-F333-1771-465152EFD3D5}"/>
                </a:ext>
              </a:extLst>
            </p:cNvPr>
            <p:cNvCxnSpPr/>
            <p:nvPr/>
          </p:nvCxnSpPr>
          <p:spPr>
            <a:xfrm>
              <a:off x="4835768" y="3529117"/>
              <a:ext cx="1694672" cy="0"/>
            </a:xfrm>
            <a:prstGeom prst="line">
              <a:avLst/>
            </a:prstGeom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Прямая соединительная линия 52">
              <a:extLst>
                <a:ext uri="{FF2B5EF4-FFF2-40B4-BE49-F238E27FC236}">
                  <a16:creationId xmlns:a16="http://schemas.microsoft.com/office/drawing/2014/main" id="{746DBD1F-E276-AADD-3EBA-E7FC8B906AFC}"/>
                </a:ext>
              </a:extLst>
            </p:cNvPr>
            <p:cNvCxnSpPr/>
            <p:nvPr/>
          </p:nvCxnSpPr>
          <p:spPr>
            <a:xfrm>
              <a:off x="4835768" y="3828673"/>
              <a:ext cx="1694672" cy="0"/>
            </a:xfrm>
            <a:prstGeom prst="line">
              <a:avLst/>
            </a:prstGeom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Группа 53">
            <a:extLst>
              <a:ext uri="{FF2B5EF4-FFF2-40B4-BE49-F238E27FC236}">
                <a16:creationId xmlns:a16="http://schemas.microsoft.com/office/drawing/2014/main" id="{8E4D5F15-4F89-1627-CB23-5E6AB2043D5E}"/>
              </a:ext>
            </a:extLst>
          </p:cNvPr>
          <p:cNvGrpSpPr/>
          <p:nvPr/>
        </p:nvGrpSpPr>
        <p:grpSpPr>
          <a:xfrm>
            <a:off x="9697346" y="3161552"/>
            <a:ext cx="2254935" cy="2231242"/>
            <a:chOff x="4835768" y="2004647"/>
            <a:chExt cx="2254935" cy="2231242"/>
          </a:xfrm>
        </p:grpSpPr>
        <p:sp>
          <p:nvSpPr>
            <p:cNvPr id="55" name="Скругленный прямоугольник 54">
              <a:extLst>
                <a:ext uri="{FF2B5EF4-FFF2-40B4-BE49-F238E27FC236}">
                  <a16:creationId xmlns:a16="http://schemas.microsoft.com/office/drawing/2014/main" id="{EE9353EB-72FC-8CB8-DC70-2D63BAD4E38E}"/>
                </a:ext>
              </a:extLst>
            </p:cNvPr>
            <p:cNvSpPr/>
            <p:nvPr/>
          </p:nvSpPr>
          <p:spPr>
            <a:xfrm>
              <a:off x="4835769" y="2004647"/>
              <a:ext cx="1694672" cy="2231242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BC13C65-D038-96EB-2E81-4A39EF79EA98}"/>
                </a:ext>
              </a:extLst>
            </p:cNvPr>
            <p:cNvSpPr txBox="1"/>
            <p:nvPr/>
          </p:nvSpPr>
          <p:spPr>
            <a:xfrm>
              <a:off x="4908982" y="2023608"/>
              <a:ext cx="21817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err="1"/>
                <a:t>Users_task_progres</a:t>
              </a:r>
              <a:endParaRPr lang="ru-RU" sz="140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BD07648-86E7-1145-A120-FB2F20965719}"/>
                </a:ext>
              </a:extLst>
            </p:cNvPr>
            <p:cNvSpPr txBox="1"/>
            <p:nvPr/>
          </p:nvSpPr>
          <p:spPr>
            <a:xfrm>
              <a:off x="4917848" y="2201660"/>
              <a:ext cx="1851732" cy="199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400"/>
                <a:t>ID</a:t>
              </a:r>
            </a:p>
            <a:p>
              <a:pPr>
                <a:lnSpc>
                  <a:spcPct val="150000"/>
                </a:lnSpc>
              </a:pPr>
              <a:r>
                <a:rPr lang="en-US" sz="1400" err="1"/>
                <a:t>User_id</a:t>
              </a:r>
              <a:endParaRPr lang="en-US" sz="1400"/>
            </a:p>
            <a:p>
              <a:pPr>
                <a:lnSpc>
                  <a:spcPct val="150000"/>
                </a:lnSpc>
              </a:pPr>
              <a:r>
                <a:rPr lang="en-US" sz="1400" err="1"/>
                <a:t>Task_id</a:t>
              </a:r>
              <a:endParaRPr lang="en-US" sz="1400"/>
            </a:p>
            <a:p>
              <a:pPr>
                <a:lnSpc>
                  <a:spcPct val="150000"/>
                </a:lnSpc>
              </a:pPr>
              <a:r>
                <a:rPr lang="en-US" sz="1400"/>
                <a:t>status</a:t>
              </a:r>
            </a:p>
            <a:p>
              <a:pPr>
                <a:lnSpc>
                  <a:spcPct val="150000"/>
                </a:lnSpc>
              </a:pPr>
              <a:r>
                <a:rPr lang="en-US" sz="1400" err="1"/>
                <a:t>Xp_earned</a:t>
              </a:r>
              <a:endParaRPr lang="en-US" sz="1400"/>
            </a:p>
            <a:p>
              <a:pPr>
                <a:lnSpc>
                  <a:spcPct val="150000"/>
                </a:lnSpc>
              </a:pPr>
              <a:r>
                <a:rPr lang="en-US" sz="1400" err="1"/>
                <a:t>Completed_at</a:t>
              </a:r>
              <a:endParaRPr lang="ru-RU" sz="1400"/>
            </a:p>
          </p:txBody>
        </p:sp>
        <p:cxnSp>
          <p:nvCxnSpPr>
            <p:cNvPr id="58" name="Прямая соединительная линия 57">
              <a:extLst>
                <a:ext uri="{FF2B5EF4-FFF2-40B4-BE49-F238E27FC236}">
                  <a16:creationId xmlns:a16="http://schemas.microsoft.com/office/drawing/2014/main" id="{15FB2798-9358-7A64-BE7A-7A2712982AFF}"/>
                </a:ext>
              </a:extLst>
            </p:cNvPr>
            <p:cNvCxnSpPr/>
            <p:nvPr/>
          </p:nvCxnSpPr>
          <p:spPr>
            <a:xfrm>
              <a:off x="4835769" y="2304491"/>
              <a:ext cx="1694672" cy="0"/>
            </a:xfrm>
            <a:prstGeom prst="line">
              <a:avLst/>
            </a:prstGeom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Прямая соединительная линия 58">
              <a:extLst>
                <a:ext uri="{FF2B5EF4-FFF2-40B4-BE49-F238E27FC236}">
                  <a16:creationId xmlns:a16="http://schemas.microsoft.com/office/drawing/2014/main" id="{65DEF063-0C13-8C96-0815-E9EC8BC39FC6}"/>
                </a:ext>
              </a:extLst>
            </p:cNvPr>
            <p:cNvCxnSpPr/>
            <p:nvPr/>
          </p:nvCxnSpPr>
          <p:spPr>
            <a:xfrm>
              <a:off x="4835769" y="2562909"/>
              <a:ext cx="1694672" cy="0"/>
            </a:xfrm>
            <a:prstGeom prst="line">
              <a:avLst/>
            </a:prstGeom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Прямая соединительная линия 59">
              <a:extLst>
                <a:ext uri="{FF2B5EF4-FFF2-40B4-BE49-F238E27FC236}">
                  <a16:creationId xmlns:a16="http://schemas.microsoft.com/office/drawing/2014/main" id="{769D2439-4A6C-8CFB-A8C5-6E55A76F7C0C}"/>
                </a:ext>
              </a:extLst>
            </p:cNvPr>
            <p:cNvCxnSpPr/>
            <p:nvPr/>
          </p:nvCxnSpPr>
          <p:spPr>
            <a:xfrm>
              <a:off x="4835768" y="2880961"/>
              <a:ext cx="1694672" cy="0"/>
            </a:xfrm>
            <a:prstGeom prst="line">
              <a:avLst/>
            </a:prstGeom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Прямая соединительная линия 60">
              <a:extLst>
                <a:ext uri="{FF2B5EF4-FFF2-40B4-BE49-F238E27FC236}">
                  <a16:creationId xmlns:a16="http://schemas.microsoft.com/office/drawing/2014/main" id="{4A08F7FB-54AF-EC7D-86BE-66FAF49A198D}"/>
                </a:ext>
              </a:extLst>
            </p:cNvPr>
            <p:cNvCxnSpPr/>
            <p:nvPr/>
          </p:nvCxnSpPr>
          <p:spPr>
            <a:xfrm>
              <a:off x="4835768" y="3200619"/>
              <a:ext cx="1694672" cy="0"/>
            </a:xfrm>
            <a:prstGeom prst="line">
              <a:avLst/>
            </a:prstGeom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Прямая соединительная линия 61">
              <a:extLst>
                <a:ext uri="{FF2B5EF4-FFF2-40B4-BE49-F238E27FC236}">
                  <a16:creationId xmlns:a16="http://schemas.microsoft.com/office/drawing/2014/main" id="{DDFA289C-4BAC-29DB-55D1-F3AC5EE79BBD}"/>
                </a:ext>
              </a:extLst>
            </p:cNvPr>
            <p:cNvCxnSpPr/>
            <p:nvPr/>
          </p:nvCxnSpPr>
          <p:spPr>
            <a:xfrm>
              <a:off x="4835768" y="3529117"/>
              <a:ext cx="1694672" cy="0"/>
            </a:xfrm>
            <a:prstGeom prst="line">
              <a:avLst/>
            </a:prstGeom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Прямая соединительная линия 62">
              <a:extLst>
                <a:ext uri="{FF2B5EF4-FFF2-40B4-BE49-F238E27FC236}">
                  <a16:creationId xmlns:a16="http://schemas.microsoft.com/office/drawing/2014/main" id="{61A75D62-2D18-C57A-411A-32AB99FEA65C}"/>
                </a:ext>
              </a:extLst>
            </p:cNvPr>
            <p:cNvCxnSpPr/>
            <p:nvPr/>
          </p:nvCxnSpPr>
          <p:spPr>
            <a:xfrm>
              <a:off x="4835768" y="3828673"/>
              <a:ext cx="1694672" cy="0"/>
            </a:xfrm>
            <a:prstGeom prst="line">
              <a:avLst/>
            </a:prstGeom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8" name="TextBox 2047">
            <a:extLst>
              <a:ext uri="{FF2B5EF4-FFF2-40B4-BE49-F238E27FC236}">
                <a16:creationId xmlns:a16="http://schemas.microsoft.com/office/drawing/2014/main" id="{D585DFFD-1C85-2809-8BCB-B483DAB50ED1}"/>
              </a:ext>
            </a:extLst>
          </p:cNvPr>
          <p:cNvSpPr txBox="1"/>
          <p:nvPr/>
        </p:nvSpPr>
        <p:spPr>
          <a:xfrm>
            <a:off x="7123572" y="2614186"/>
            <a:ext cx="1851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таблиц</a:t>
            </a:r>
          </a:p>
        </p:txBody>
      </p:sp>
      <p:grpSp>
        <p:nvGrpSpPr>
          <p:cNvPr id="2049" name="Группа 2048">
            <a:extLst>
              <a:ext uri="{FF2B5EF4-FFF2-40B4-BE49-F238E27FC236}">
                <a16:creationId xmlns:a16="http://schemas.microsoft.com/office/drawing/2014/main" id="{1B11AF5E-BBF7-DA2E-CCFF-A7730647FC73}"/>
              </a:ext>
            </a:extLst>
          </p:cNvPr>
          <p:cNvGrpSpPr/>
          <p:nvPr/>
        </p:nvGrpSpPr>
        <p:grpSpPr>
          <a:xfrm>
            <a:off x="-3538317" y="585361"/>
            <a:ext cx="7124080" cy="6896725"/>
            <a:chOff x="-2236665" y="-141170"/>
            <a:chExt cx="7124080" cy="6896725"/>
          </a:xfrm>
        </p:grpSpPr>
        <p:sp>
          <p:nvSpPr>
            <p:cNvPr id="2051" name="Кольцо 2050">
              <a:extLst>
                <a:ext uri="{FF2B5EF4-FFF2-40B4-BE49-F238E27FC236}">
                  <a16:creationId xmlns:a16="http://schemas.microsoft.com/office/drawing/2014/main" id="{5EB33C1F-BBCA-AFB2-A7ED-4A006E233CAA}"/>
                </a:ext>
              </a:extLst>
            </p:cNvPr>
            <p:cNvSpPr/>
            <p:nvPr/>
          </p:nvSpPr>
          <p:spPr>
            <a:xfrm rot="5400000">
              <a:off x="-2066870" y="-141481"/>
              <a:ext cx="6896724" cy="6897348"/>
            </a:xfrm>
            <a:prstGeom prst="donut">
              <a:avLst/>
            </a:prstGeom>
            <a:solidFill>
              <a:srgbClr val="6366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grpSp>
          <p:nvGrpSpPr>
            <p:cNvPr id="2053" name="Группа 2052">
              <a:extLst>
                <a:ext uri="{FF2B5EF4-FFF2-40B4-BE49-F238E27FC236}">
                  <a16:creationId xmlns:a16="http://schemas.microsoft.com/office/drawing/2014/main" id="{E01550AC-71B9-2268-F894-586E1C791033}"/>
                </a:ext>
              </a:extLst>
            </p:cNvPr>
            <p:cNvGrpSpPr/>
            <p:nvPr/>
          </p:nvGrpSpPr>
          <p:grpSpPr>
            <a:xfrm rot="16357974">
              <a:off x="3244908" y="2421529"/>
              <a:ext cx="1465905" cy="1819109"/>
              <a:chOff x="2966377" y="3564021"/>
              <a:chExt cx="1465905" cy="1819109"/>
            </a:xfrm>
          </p:grpSpPr>
          <p:grpSp>
            <p:nvGrpSpPr>
              <p:cNvPr id="2071" name="Группа 2070">
                <a:extLst>
                  <a:ext uri="{FF2B5EF4-FFF2-40B4-BE49-F238E27FC236}">
                    <a16:creationId xmlns:a16="http://schemas.microsoft.com/office/drawing/2014/main" id="{76388418-AEA6-40EE-CD45-689EC3DBE474}"/>
                  </a:ext>
                </a:extLst>
              </p:cNvPr>
              <p:cNvGrpSpPr/>
              <p:nvPr/>
            </p:nvGrpSpPr>
            <p:grpSpPr>
              <a:xfrm rot="5400000">
                <a:off x="2942501" y="3749525"/>
                <a:ext cx="1505927" cy="1425020"/>
                <a:chOff x="1580173" y="3080083"/>
                <a:chExt cx="1400824" cy="1325564"/>
              </a:xfrm>
            </p:grpSpPr>
            <p:sp>
              <p:nvSpPr>
                <p:cNvPr id="2076" name="Овал 2075">
                  <a:extLst>
                    <a:ext uri="{FF2B5EF4-FFF2-40B4-BE49-F238E27FC236}">
                      <a16:creationId xmlns:a16="http://schemas.microsoft.com/office/drawing/2014/main" id="{A75B0A7B-2299-CE01-96AD-BACE6EB40A23}"/>
                    </a:ext>
                  </a:extLst>
                </p:cNvPr>
                <p:cNvSpPr/>
                <p:nvPr/>
              </p:nvSpPr>
              <p:spPr>
                <a:xfrm>
                  <a:off x="1580173" y="3080083"/>
                  <a:ext cx="1400824" cy="132556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pic>
              <p:nvPicPr>
                <p:cNvPr id="2077" name="Picture 4" descr="Picture background">
                  <a:extLst>
                    <a:ext uri="{FF2B5EF4-FFF2-40B4-BE49-F238E27FC236}">
                      <a16:creationId xmlns:a16="http://schemas.microsoft.com/office/drawing/2014/main" id="{D2FF4DCD-935D-391E-9878-7EFC6C15C78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alphaModFix/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colorTemperature colorTemp="5900"/>
                          </a14:imgEffect>
                          <a14:imgEffect>
                            <a14:brightnessContrast bright="40000" contrast="-4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 bwMode="auto">
                <a:xfrm>
                  <a:off x="1723199" y="3199956"/>
                  <a:ext cx="1114773" cy="10858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2072" name="Месяц 2071">
                <a:extLst>
                  <a:ext uri="{FF2B5EF4-FFF2-40B4-BE49-F238E27FC236}">
                    <a16:creationId xmlns:a16="http://schemas.microsoft.com/office/drawing/2014/main" id="{47C23E78-A25E-A09A-279D-8DCCD5A3042C}"/>
                  </a:ext>
                </a:extLst>
              </p:cNvPr>
              <p:cNvSpPr/>
              <p:nvPr/>
            </p:nvSpPr>
            <p:spPr>
              <a:xfrm rot="8490992">
                <a:off x="4133939" y="3574606"/>
                <a:ext cx="298343" cy="716265"/>
              </a:xfrm>
              <a:prstGeom prst="moon">
                <a:avLst>
                  <a:gd name="adj" fmla="val 72290"/>
                </a:avLst>
              </a:prstGeom>
              <a:solidFill>
                <a:srgbClr val="6366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73" name="Месяц 2072">
                <a:extLst>
                  <a:ext uri="{FF2B5EF4-FFF2-40B4-BE49-F238E27FC236}">
                    <a16:creationId xmlns:a16="http://schemas.microsoft.com/office/drawing/2014/main" id="{84E0B87B-9440-B895-7595-B6123BF9A822}"/>
                  </a:ext>
                </a:extLst>
              </p:cNvPr>
              <p:cNvSpPr/>
              <p:nvPr/>
            </p:nvSpPr>
            <p:spPr>
              <a:xfrm rot="13324706">
                <a:off x="4108699" y="4662849"/>
                <a:ext cx="298343" cy="716265"/>
              </a:xfrm>
              <a:prstGeom prst="moon">
                <a:avLst>
                  <a:gd name="adj" fmla="val 72290"/>
                </a:avLst>
              </a:prstGeom>
              <a:solidFill>
                <a:srgbClr val="6366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74" name="Месяц 2073">
                <a:extLst>
                  <a:ext uri="{FF2B5EF4-FFF2-40B4-BE49-F238E27FC236}">
                    <a16:creationId xmlns:a16="http://schemas.microsoft.com/office/drawing/2014/main" id="{777FB1F3-66BF-1183-3B44-7E19AAF3E5D6}"/>
                  </a:ext>
                </a:extLst>
              </p:cNvPr>
              <p:cNvSpPr/>
              <p:nvPr/>
            </p:nvSpPr>
            <p:spPr>
              <a:xfrm rot="19155396">
                <a:off x="2979927" y="4666865"/>
                <a:ext cx="298343" cy="716265"/>
              </a:xfrm>
              <a:prstGeom prst="moon">
                <a:avLst>
                  <a:gd name="adj" fmla="val 72290"/>
                </a:avLst>
              </a:prstGeom>
              <a:solidFill>
                <a:srgbClr val="6366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75" name="Месяц 2074">
                <a:extLst>
                  <a:ext uri="{FF2B5EF4-FFF2-40B4-BE49-F238E27FC236}">
                    <a16:creationId xmlns:a16="http://schemas.microsoft.com/office/drawing/2014/main" id="{D8DD56F6-EF2E-C7EA-FFF8-6F33E52C751F}"/>
                  </a:ext>
                </a:extLst>
              </p:cNvPr>
              <p:cNvSpPr/>
              <p:nvPr/>
            </p:nvSpPr>
            <p:spPr>
              <a:xfrm rot="2456484">
                <a:off x="2966377" y="3564021"/>
                <a:ext cx="298343" cy="716265"/>
              </a:xfrm>
              <a:prstGeom prst="moon">
                <a:avLst>
                  <a:gd name="adj" fmla="val 72290"/>
                </a:avLst>
              </a:prstGeom>
              <a:solidFill>
                <a:srgbClr val="6366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2055" name="Группа 2054">
              <a:extLst>
                <a:ext uri="{FF2B5EF4-FFF2-40B4-BE49-F238E27FC236}">
                  <a16:creationId xmlns:a16="http://schemas.microsoft.com/office/drawing/2014/main" id="{DCAD59BC-93FC-1819-6CCD-1905D346159D}"/>
                </a:ext>
              </a:extLst>
            </p:cNvPr>
            <p:cNvGrpSpPr/>
            <p:nvPr/>
          </p:nvGrpSpPr>
          <p:grpSpPr>
            <a:xfrm rot="16200000">
              <a:off x="-2115049" y="2447987"/>
              <a:ext cx="1655664" cy="1898895"/>
              <a:chOff x="2779417" y="-1810127"/>
              <a:chExt cx="1655664" cy="1898895"/>
            </a:xfrm>
          </p:grpSpPr>
          <p:sp>
            <p:nvSpPr>
              <p:cNvPr id="2064" name="Овал 2063">
                <a:extLst>
                  <a:ext uri="{FF2B5EF4-FFF2-40B4-BE49-F238E27FC236}">
                    <a16:creationId xmlns:a16="http://schemas.microsoft.com/office/drawing/2014/main" id="{28C62B85-4272-2CD4-A24F-6B991D4E0D36}"/>
                  </a:ext>
                </a:extLst>
              </p:cNvPr>
              <p:cNvSpPr/>
              <p:nvPr/>
            </p:nvSpPr>
            <p:spPr>
              <a:xfrm rot="16200000">
                <a:off x="2932611" y="-1578310"/>
                <a:ext cx="1502470" cy="150247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65" name="Месяц 2064">
                <a:extLst>
                  <a:ext uri="{FF2B5EF4-FFF2-40B4-BE49-F238E27FC236}">
                    <a16:creationId xmlns:a16="http://schemas.microsoft.com/office/drawing/2014/main" id="{E21B3968-1D83-297E-79AE-AE6BF1596A73}"/>
                  </a:ext>
                </a:extLst>
              </p:cNvPr>
              <p:cNvSpPr/>
              <p:nvPr/>
            </p:nvSpPr>
            <p:spPr>
              <a:xfrm rot="18796906">
                <a:off x="3023907" y="-609117"/>
                <a:ext cx="238046" cy="713173"/>
              </a:xfrm>
              <a:prstGeom prst="moon">
                <a:avLst>
                  <a:gd name="adj" fmla="val 66215"/>
                </a:avLst>
              </a:prstGeom>
              <a:solidFill>
                <a:srgbClr val="6366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pic>
            <p:nvPicPr>
              <p:cNvPr id="2066" name="Picture 8" descr="Picture background">
                <a:extLst>
                  <a:ext uri="{FF2B5EF4-FFF2-40B4-BE49-F238E27FC236}">
                    <a16:creationId xmlns:a16="http://schemas.microsoft.com/office/drawing/2014/main" id="{15E629D4-F2AB-0087-00CB-89FA340F955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 bwMode="auto">
              <a:xfrm rot="16200000">
                <a:off x="3204110" y="-1442697"/>
                <a:ext cx="1148041" cy="11614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67" name="Рисунок 2066">
                <a:extLst>
                  <a:ext uri="{FF2B5EF4-FFF2-40B4-BE49-F238E27FC236}">
                    <a16:creationId xmlns:a16="http://schemas.microsoft.com/office/drawing/2014/main" id="{A17B9A90-8035-FFAA-F9B9-F0E37F4786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16200000">
                <a:off x="3132102" y="-1598704"/>
                <a:ext cx="1438168" cy="1015321"/>
              </a:xfrm>
              <a:prstGeom prst="rect">
                <a:avLst/>
              </a:prstGeom>
            </p:spPr>
          </p:pic>
          <p:sp>
            <p:nvSpPr>
              <p:cNvPr id="2068" name="Месяц 2067">
                <a:extLst>
                  <a:ext uri="{FF2B5EF4-FFF2-40B4-BE49-F238E27FC236}">
                    <a16:creationId xmlns:a16="http://schemas.microsoft.com/office/drawing/2014/main" id="{3D2AA836-9518-0F2F-161F-F8526451A65D}"/>
                  </a:ext>
                </a:extLst>
              </p:cNvPr>
              <p:cNvSpPr/>
              <p:nvPr/>
            </p:nvSpPr>
            <p:spPr>
              <a:xfrm rot="2781742">
                <a:off x="3016981" y="-1750218"/>
                <a:ext cx="238046" cy="713173"/>
              </a:xfrm>
              <a:prstGeom prst="moon">
                <a:avLst>
                  <a:gd name="adj" fmla="val 66215"/>
                </a:avLst>
              </a:prstGeom>
              <a:solidFill>
                <a:srgbClr val="6366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69" name="Месяц 2068">
                <a:extLst>
                  <a:ext uri="{FF2B5EF4-FFF2-40B4-BE49-F238E27FC236}">
                    <a16:creationId xmlns:a16="http://schemas.microsoft.com/office/drawing/2014/main" id="{7CBAC3D6-19C6-AD51-AF7E-016E832CBB5C}"/>
                  </a:ext>
                </a:extLst>
              </p:cNvPr>
              <p:cNvSpPr/>
              <p:nvPr/>
            </p:nvSpPr>
            <p:spPr>
              <a:xfrm rot="8323782">
                <a:off x="4169516" y="-1699035"/>
                <a:ext cx="238046" cy="713173"/>
              </a:xfrm>
              <a:prstGeom prst="moon">
                <a:avLst>
                  <a:gd name="adj" fmla="val 67101"/>
                </a:avLst>
              </a:prstGeom>
              <a:solidFill>
                <a:srgbClr val="6366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70" name="Месяц 2069">
                <a:extLst>
                  <a:ext uri="{FF2B5EF4-FFF2-40B4-BE49-F238E27FC236}">
                    <a16:creationId xmlns:a16="http://schemas.microsoft.com/office/drawing/2014/main" id="{F0463A7A-DA0B-9EE5-7F24-27C251D82BDC}"/>
                  </a:ext>
                </a:extLst>
              </p:cNvPr>
              <p:cNvSpPr/>
              <p:nvPr/>
            </p:nvSpPr>
            <p:spPr>
              <a:xfrm rot="13430561">
                <a:off x="4112698" y="-646168"/>
                <a:ext cx="238046" cy="734936"/>
              </a:xfrm>
              <a:prstGeom prst="moon">
                <a:avLst>
                  <a:gd name="adj" fmla="val 66215"/>
                </a:avLst>
              </a:prstGeom>
              <a:solidFill>
                <a:srgbClr val="6366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2057" name="Группа 2056">
              <a:extLst>
                <a:ext uri="{FF2B5EF4-FFF2-40B4-BE49-F238E27FC236}">
                  <a16:creationId xmlns:a16="http://schemas.microsoft.com/office/drawing/2014/main" id="{0DF56471-3DA5-33C3-37E2-EA2F78495D14}"/>
                </a:ext>
              </a:extLst>
            </p:cNvPr>
            <p:cNvGrpSpPr/>
            <p:nvPr/>
          </p:nvGrpSpPr>
          <p:grpSpPr>
            <a:xfrm rot="16200000">
              <a:off x="482001" y="-31840"/>
              <a:ext cx="1798982" cy="1580322"/>
              <a:chOff x="4154580" y="-2531879"/>
              <a:chExt cx="1798982" cy="1580322"/>
            </a:xfrm>
          </p:grpSpPr>
          <p:sp>
            <p:nvSpPr>
              <p:cNvPr id="2058" name="Овал 2057">
                <a:extLst>
                  <a:ext uri="{FF2B5EF4-FFF2-40B4-BE49-F238E27FC236}">
                    <a16:creationId xmlns:a16="http://schemas.microsoft.com/office/drawing/2014/main" id="{5AD137CA-D25D-886C-67AD-2A0CB01316B3}"/>
                  </a:ext>
                </a:extLst>
              </p:cNvPr>
              <p:cNvSpPr/>
              <p:nvPr/>
            </p:nvSpPr>
            <p:spPr>
              <a:xfrm>
                <a:off x="4311851" y="-2467013"/>
                <a:ext cx="1497621" cy="149762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pic>
            <p:nvPicPr>
              <p:cNvPr id="2059" name="Picture 6" descr="Picture background">
                <a:extLst>
                  <a:ext uri="{FF2B5EF4-FFF2-40B4-BE49-F238E27FC236}">
                    <a16:creationId xmlns:a16="http://schemas.microsoft.com/office/drawing/2014/main" id="{270D74DC-CA66-71FE-2FC1-7C5955F114C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 bwMode="auto">
              <a:xfrm>
                <a:off x="4421752" y="-2357113"/>
                <a:ext cx="1277820" cy="12778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060" name="Месяц 2059">
                <a:extLst>
                  <a:ext uri="{FF2B5EF4-FFF2-40B4-BE49-F238E27FC236}">
                    <a16:creationId xmlns:a16="http://schemas.microsoft.com/office/drawing/2014/main" id="{8BEF4AFC-14C5-5B01-E38D-E847F71CD37B}"/>
                  </a:ext>
                </a:extLst>
              </p:cNvPr>
              <p:cNvSpPr/>
              <p:nvPr/>
            </p:nvSpPr>
            <p:spPr>
              <a:xfrm rot="13692164">
                <a:off x="5459467" y="-1435715"/>
                <a:ext cx="301811" cy="666506"/>
              </a:xfrm>
              <a:prstGeom prst="moon">
                <a:avLst>
                  <a:gd name="adj" fmla="val 77132"/>
                </a:avLst>
              </a:prstGeom>
              <a:solidFill>
                <a:srgbClr val="6366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61" name="Месяц 2060">
                <a:extLst>
                  <a:ext uri="{FF2B5EF4-FFF2-40B4-BE49-F238E27FC236}">
                    <a16:creationId xmlns:a16="http://schemas.microsoft.com/office/drawing/2014/main" id="{E0D063AF-B838-8996-B87A-B9B3DE94E87E}"/>
                  </a:ext>
                </a:extLst>
              </p:cNvPr>
              <p:cNvSpPr/>
              <p:nvPr/>
            </p:nvSpPr>
            <p:spPr>
              <a:xfrm rot="18818312">
                <a:off x="4336927" y="-1455281"/>
                <a:ext cx="301811" cy="666506"/>
              </a:xfrm>
              <a:prstGeom prst="moon">
                <a:avLst>
                  <a:gd name="adj" fmla="val 77132"/>
                </a:avLst>
              </a:prstGeom>
              <a:solidFill>
                <a:srgbClr val="6366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62" name="Месяц 2061">
                <a:extLst>
                  <a:ext uri="{FF2B5EF4-FFF2-40B4-BE49-F238E27FC236}">
                    <a16:creationId xmlns:a16="http://schemas.microsoft.com/office/drawing/2014/main" id="{EA2D92FC-E480-A838-5B77-3AD5B63E70E7}"/>
                  </a:ext>
                </a:extLst>
              </p:cNvPr>
              <p:cNvSpPr/>
              <p:nvPr/>
            </p:nvSpPr>
            <p:spPr>
              <a:xfrm rot="3249256">
                <a:off x="4422408" y="-2714226"/>
                <a:ext cx="301811" cy="666506"/>
              </a:xfrm>
              <a:prstGeom prst="moon">
                <a:avLst>
                  <a:gd name="adj" fmla="val 77132"/>
                </a:avLst>
              </a:prstGeom>
              <a:solidFill>
                <a:srgbClr val="6366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63" name="Месяц 2062">
                <a:extLst>
                  <a:ext uri="{FF2B5EF4-FFF2-40B4-BE49-F238E27FC236}">
                    <a16:creationId xmlns:a16="http://schemas.microsoft.com/office/drawing/2014/main" id="{71874771-0092-1F42-BDE0-683098565025}"/>
                  </a:ext>
                </a:extLst>
              </p:cNvPr>
              <p:cNvSpPr/>
              <p:nvPr/>
            </p:nvSpPr>
            <p:spPr>
              <a:xfrm rot="8006030">
                <a:off x="5469403" y="-2652244"/>
                <a:ext cx="301811" cy="666506"/>
              </a:xfrm>
              <a:prstGeom prst="moon">
                <a:avLst>
                  <a:gd name="adj" fmla="val 77132"/>
                </a:avLst>
              </a:prstGeom>
              <a:solidFill>
                <a:srgbClr val="6366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3414557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0E7BF-2055-D9FB-85C8-C7DC9C541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016413-CC10-D3EA-F78E-3DB63B1B1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7638" y="0"/>
            <a:ext cx="6896724" cy="1325563"/>
          </a:xfrm>
        </p:spPr>
        <p:txBody>
          <a:bodyPr/>
          <a:lstStyle/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Инструменты и технологии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E371D7-97E4-5D71-F749-D86D65309E65}"/>
              </a:ext>
            </a:extLst>
          </p:cNvPr>
          <p:cNvSpPr txBox="1"/>
          <p:nvPr/>
        </p:nvSpPr>
        <p:spPr>
          <a:xfrm>
            <a:off x="4435082" y="1355392"/>
            <a:ext cx="55124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Для написания бэкэнда я выбрала 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Node.js</a:t>
            </a:r>
            <a:r>
              <a:rPr lang="ru-RU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потому что</a:t>
            </a:r>
          </a:p>
        </p:txBody>
      </p:sp>
      <p:grpSp>
        <p:nvGrpSpPr>
          <p:cNvPr id="2078" name="Группа 2077">
            <a:extLst>
              <a:ext uri="{FF2B5EF4-FFF2-40B4-BE49-F238E27FC236}">
                <a16:creationId xmlns:a16="http://schemas.microsoft.com/office/drawing/2014/main" id="{73EEDFE4-1243-7958-6133-7478FC8C2325}"/>
              </a:ext>
            </a:extLst>
          </p:cNvPr>
          <p:cNvGrpSpPr/>
          <p:nvPr/>
        </p:nvGrpSpPr>
        <p:grpSpPr>
          <a:xfrm>
            <a:off x="-3531455" y="662781"/>
            <a:ext cx="7124080" cy="6896725"/>
            <a:chOff x="-2236665" y="-141170"/>
            <a:chExt cx="7124080" cy="6896725"/>
          </a:xfrm>
        </p:grpSpPr>
        <p:sp>
          <p:nvSpPr>
            <p:cNvPr id="2079" name="Кольцо 2078">
              <a:extLst>
                <a:ext uri="{FF2B5EF4-FFF2-40B4-BE49-F238E27FC236}">
                  <a16:creationId xmlns:a16="http://schemas.microsoft.com/office/drawing/2014/main" id="{74B81BD5-7153-E02F-775B-9DCC77327971}"/>
                </a:ext>
              </a:extLst>
            </p:cNvPr>
            <p:cNvSpPr/>
            <p:nvPr/>
          </p:nvSpPr>
          <p:spPr>
            <a:xfrm rot="5400000">
              <a:off x="-2066870" y="-141481"/>
              <a:ext cx="6896724" cy="6897348"/>
            </a:xfrm>
            <a:prstGeom prst="donut">
              <a:avLst/>
            </a:prstGeom>
            <a:solidFill>
              <a:srgbClr val="6366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grpSp>
          <p:nvGrpSpPr>
            <p:cNvPr id="2080" name="Группа 2079">
              <a:extLst>
                <a:ext uri="{FF2B5EF4-FFF2-40B4-BE49-F238E27FC236}">
                  <a16:creationId xmlns:a16="http://schemas.microsoft.com/office/drawing/2014/main" id="{66B154D2-8F79-1E2E-6F80-AB2B261855A9}"/>
                </a:ext>
              </a:extLst>
            </p:cNvPr>
            <p:cNvGrpSpPr/>
            <p:nvPr/>
          </p:nvGrpSpPr>
          <p:grpSpPr>
            <a:xfrm rot="16357974">
              <a:off x="3244908" y="2421529"/>
              <a:ext cx="1465905" cy="1819109"/>
              <a:chOff x="2966377" y="3564021"/>
              <a:chExt cx="1465905" cy="1819109"/>
            </a:xfrm>
          </p:grpSpPr>
          <p:grpSp>
            <p:nvGrpSpPr>
              <p:cNvPr id="2096" name="Группа 2095">
                <a:extLst>
                  <a:ext uri="{FF2B5EF4-FFF2-40B4-BE49-F238E27FC236}">
                    <a16:creationId xmlns:a16="http://schemas.microsoft.com/office/drawing/2014/main" id="{8313C51D-C161-FCF3-264D-ED32522A6B23}"/>
                  </a:ext>
                </a:extLst>
              </p:cNvPr>
              <p:cNvGrpSpPr/>
              <p:nvPr/>
            </p:nvGrpSpPr>
            <p:grpSpPr>
              <a:xfrm rot="5400000">
                <a:off x="2942501" y="3749525"/>
                <a:ext cx="1505927" cy="1425020"/>
                <a:chOff x="1580173" y="3080083"/>
                <a:chExt cx="1400824" cy="1325564"/>
              </a:xfrm>
            </p:grpSpPr>
            <p:sp>
              <p:nvSpPr>
                <p:cNvPr id="2101" name="Овал 2100">
                  <a:extLst>
                    <a:ext uri="{FF2B5EF4-FFF2-40B4-BE49-F238E27FC236}">
                      <a16:creationId xmlns:a16="http://schemas.microsoft.com/office/drawing/2014/main" id="{E1D1398B-B2B6-468D-09F1-B939400128B5}"/>
                    </a:ext>
                  </a:extLst>
                </p:cNvPr>
                <p:cNvSpPr/>
                <p:nvPr/>
              </p:nvSpPr>
              <p:spPr>
                <a:xfrm>
                  <a:off x="1580173" y="3080083"/>
                  <a:ext cx="1400824" cy="132556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pic>
              <p:nvPicPr>
                <p:cNvPr id="2102" name="Picture 4" descr="Picture background">
                  <a:extLst>
                    <a:ext uri="{FF2B5EF4-FFF2-40B4-BE49-F238E27FC236}">
                      <a16:creationId xmlns:a16="http://schemas.microsoft.com/office/drawing/2014/main" id="{38DFF522-5731-A612-7606-288F90BF62A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alphaModFix/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colorTemperature colorTemp="5900"/>
                          </a14:imgEffect>
                          <a14:imgEffect>
                            <a14:brightnessContrast bright="40000" contrast="-4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 bwMode="auto">
                <a:xfrm>
                  <a:off x="1723199" y="3199956"/>
                  <a:ext cx="1114773" cy="10858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2097" name="Месяц 2096">
                <a:extLst>
                  <a:ext uri="{FF2B5EF4-FFF2-40B4-BE49-F238E27FC236}">
                    <a16:creationId xmlns:a16="http://schemas.microsoft.com/office/drawing/2014/main" id="{DCDF7653-52A5-1C8A-B990-E7F427518FB1}"/>
                  </a:ext>
                </a:extLst>
              </p:cNvPr>
              <p:cNvSpPr/>
              <p:nvPr/>
            </p:nvSpPr>
            <p:spPr>
              <a:xfrm rot="8490992">
                <a:off x="4133939" y="3574606"/>
                <a:ext cx="298343" cy="716265"/>
              </a:xfrm>
              <a:prstGeom prst="moon">
                <a:avLst>
                  <a:gd name="adj" fmla="val 72290"/>
                </a:avLst>
              </a:prstGeom>
              <a:solidFill>
                <a:srgbClr val="6366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98" name="Месяц 2097">
                <a:extLst>
                  <a:ext uri="{FF2B5EF4-FFF2-40B4-BE49-F238E27FC236}">
                    <a16:creationId xmlns:a16="http://schemas.microsoft.com/office/drawing/2014/main" id="{04B9E439-3A9F-FBB5-16B0-C2A0EECF860D}"/>
                  </a:ext>
                </a:extLst>
              </p:cNvPr>
              <p:cNvSpPr/>
              <p:nvPr/>
            </p:nvSpPr>
            <p:spPr>
              <a:xfrm rot="13324706">
                <a:off x="4108699" y="4662849"/>
                <a:ext cx="298343" cy="716265"/>
              </a:xfrm>
              <a:prstGeom prst="moon">
                <a:avLst>
                  <a:gd name="adj" fmla="val 72290"/>
                </a:avLst>
              </a:prstGeom>
              <a:solidFill>
                <a:srgbClr val="6366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99" name="Месяц 2098">
                <a:extLst>
                  <a:ext uri="{FF2B5EF4-FFF2-40B4-BE49-F238E27FC236}">
                    <a16:creationId xmlns:a16="http://schemas.microsoft.com/office/drawing/2014/main" id="{CFAA1070-9123-95DE-9CE6-69D4592B540C}"/>
                  </a:ext>
                </a:extLst>
              </p:cNvPr>
              <p:cNvSpPr/>
              <p:nvPr/>
            </p:nvSpPr>
            <p:spPr>
              <a:xfrm rot="19155396">
                <a:off x="2979927" y="4666865"/>
                <a:ext cx="298343" cy="716265"/>
              </a:xfrm>
              <a:prstGeom prst="moon">
                <a:avLst>
                  <a:gd name="adj" fmla="val 72290"/>
                </a:avLst>
              </a:prstGeom>
              <a:solidFill>
                <a:srgbClr val="6366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100" name="Месяц 2099">
                <a:extLst>
                  <a:ext uri="{FF2B5EF4-FFF2-40B4-BE49-F238E27FC236}">
                    <a16:creationId xmlns:a16="http://schemas.microsoft.com/office/drawing/2014/main" id="{3972D82E-A4C7-CFB9-FD16-C57E26E5E31A}"/>
                  </a:ext>
                </a:extLst>
              </p:cNvPr>
              <p:cNvSpPr/>
              <p:nvPr/>
            </p:nvSpPr>
            <p:spPr>
              <a:xfrm rot="2456484">
                <a:off x="2966377" y="3564021"/>
                <a:ext cx="298343" cy="716265"/>
              </a:xfrm>
              <a:prstGeom prst="moon">
                <a:avLst>
                  <a:gd name="adj" fmla="val 72290"/>
                </a:avLst>
              </a:prstGeom>
              <a:solidFill>
                <a:srgbClr val="6366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2081" name="Группа 2080">
              <a:extLst>
                <a:ext uri="{FF2B5EF4-FFF2-40B4-BE49-F238E27FC236}">
                  <a16:creationId xmlns:a16="http://schemas.microsoft.com/office/drawing/2014/main" id="{BAFA4D7B-D7DE-6AC7-05F1-4F8F2006219A}"/>
                </a:ext>
              </a:extLst>
            </p:cNvPr>
            <p:cNvGrpSpPr/>
            <p:nvPr/>
          </p:nvGrpSpPr>
          <p:grpSpPr>
            <a:xfrm rot="16200000">
              <a:off x="-2115049" y="2447987"/>
              <a:ext cx="1655664" cy="1898895"/>
              <a:chOff x="2779417" y="-1810127"/>
              <a:chExt cx="1655664" cy="1898895"/>
            </a:xfrm>
          </p:grpSpPr>
          <p:sp>
            <p:nvSpPr>
              <p:cNvPr id="2089" name="Овал 2088">
                <a:extLst>
                  <a:ext uri="{FF2B5EF4-FFF2-40B4-BE49-F238E27FC236}">
                    <a16:creationId xmlns:a16="http://schemas.microsoft.com/office/drawing/2014/main" id="{D49FCBD3-5D5E-0C83-E54D-E0D8D631EFF8}"/>
                  </a:ext>
                </a:extLst>
              </p:cNvPr>
              <p:cNvSpPr/>
              <p:nvPr/>
            </p:nvSpPr>
            <p:spPr>
              <a:xfrm rot="16200000">
                <a:off x="2932611" y="-1578310"/>
                <a:ext cx="1502470" cy="150247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90" name="Месяц 2089">
                <a:extLst>
                  <a:ext uri="{FF2B5EF4-FFF2-40B4-BE49-F238E27FC236}">
                    <a16:creationId xmlns:a16="http://schemas.microsoft.com/office/drawing/2014/main" id="{1977FF84-30D5-F07C-77CB-1FDA17C99755}"/>
                  </a:ext>
                </a:extLst>
              </p:cNvPr>
              <p:cNvSpPr/>
              <p:nvPr/>
            </p:nvSpPr>
            <p:spPr>
              <a:xfrm rot="18796906">
                <a:off x="3023907" y="-609117"/>
                <a:ext cx="238046" cy="713173"/>
              </a:xfrm>
              <a:prstGeom prst="moon">
                <a:avLst>
                  <a:gd name="adj" fmla="val 66215"/>
                </a:avLst>
              </a:prstGeom>
              <a:solidFill>
                <a:srgbClr val="6366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pic>
            <p:nvPicPr>
              <p:cNvPr id="2091" name="Picture 8" descr="Picture background">
                <a:extLst>
                  <a:ext uri="{FF2B5EF4-FFF2-40B4-BE49-F238E27FC236}">
                    <a16:creationId xmlns:a16="http://schemas.microsoft.com/office/drawing/2014/main" id="{63A2D95A-A4C4-C5EA-2CBD-D4BE1CA3F6C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 bwMode="auto">
              <a:xfrm rot="16200000">
                <a:off x="3204110" y="-1442697"/>
                <a:ext cx="1148041" cy="11614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92" name="Рисунок 2091">
                <a:extLst>
                  <a:ext uri="{FF2B5EF4-FFF2-40B4-BE49-F238E27FC236}">
                    <a16:creationId xmlns:a16="http://schemas.microsoft.com/office/drawing/2014/main" id="{18DAABC3-C7FF-83AD-032D-036855DAC2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16200000">
                <a:off x="3132102" y="-1598704"/>
                <a:ext cx="1438168" cy="1015321"/>
              </a:xfrm>
              <a:prstGeom prst="rect">
                <a:avLst/>
              </a:prstGeom>
            </p:spPr>
          </p:pic>
          <p:sp>
            <p:nvSpPr>
              <p:cNvPr id="2093" name="Месяц 2092">
                <a:extLst>
                  <a:ext uri="{FF2B5EF4-FFF2-40B4-BE49-F238E27FC236}">
                    <a16:creationId xmlns:a16="http://schemas.microsoft.com/office/drawing/2014/main" id="{D0EC4BF8-19F8-90C7-62CB-EB294379FC0C}"/>
                  </a:ext>
                </a:extLst>
              </p:cNvPr>
              <p:cNvSpPr/>
              <p:nvPr/>
            </p:nvSpPr>
            <p:spPr>
              <a:xfrm rot="2781742">
                <a:off x="3016981" y="-1750218"/>
                <a:ext cx="238046" cy="713173"/>
              </a:xfrm>
              <a:prstGeom prst="moon">
                <a:avLst>
                  <a:gd name="adj" fmla="val 66215"/>
                </a:avLst>
              </a:prstGeom>
              <a:solidFill>
                <a:srgbClr val="6366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94" name="Месяц 2093">
                <a:extLst>
                  <a:ext uri="{FF2B5EF4-FFF2-40B4-BE49-F238E27FC236}">
                    <a16:creationId xmlns:a16="http://schemas.microsoft.com/office/drawing/2014/main" id="{F762482B-B1E8-3069-3F2A-B7CD371F6CF6}"/>
                  </a:ext>
                </a:extLst>
              </p:cNvPr>
              <p:cNvSpPr/>
              <p:nvPr/>
            </p:nvSpPr>
            <p:spPr>
              <a:xfrm rot="8323782">
                <a:off x="4169516" y="-1699035"/>
                <a:ext cx="238046" cy="713173"/>
              </a:xfrm>
              <a:prstGeom prst="moon">
                <a:avLst>
                  <a:gd name="adj" fmla="val 67101"/>
                </a:avLst>
              </a:prstGeom>
              <a:solidFill>
                <a:srgbClr val="6366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95" name="Месяц 2094">
                <a:extLst>
                  <a:ext uri="{FF2B5EF4-FFF2-40B4-BE49-F238E27FC236}">
                    <a16:creationId xmlns:a16="http://schemas.microsoft.com/office/drawing/2014/main" id="{072D9997-E09B-F474-1E81-B1D64C660047}"/>
                  </a:ext>
                </a:extLst>
              </p:cNvPr>
              <p:cNvSpPr/>
              <p:nvPr/>
            </p:nvSpPr>
            <p:spPr>
              <a:xfrm rot="13430561">
                <a:off x="4112698" y="-646168"/>
                <a:ext cx="238046" cy="734936"/>
              </a:xfrm>
              <a:prstGeom prst="moon">
                <a:avLst>
                  <a:gd name="adj" fmla="val 66215"/>
                </a:avLst>
              </a:prstGeom>
              <a:solidFill>
                <a:srgbClr val="6366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2082" name="Группа 2081">
              <a:extLst>
                <a:ext uri="{FF2B5EF4-FFF2-40B4-BE49-F238E27FC236}">
                  <a16:creationId xmlns:a16="http://schemas.microsoft.com/office/drawing/2014/main" id="{4CB322D4-9FA5-5C07-4A82-002406AC8EE1}"/>
                </a:ext>
              </a:extLst>
            </p:cNvPr>
            <p:cNvGrpSpPr/>
            <p:nvPr/>
          </p:nvGrpSpPr>
          <p:grpSpPr>
            <a:xfrm rot="16200000">
              <a:off x="482001" y="-31840"/>
              <a:ext cx="1798982" cy="1580322"/>
              <a:chOff x="4154580" y="-2531879"/>
              <a:chExt cx="1798982" cy="1580322"/>
            </a:xfrm>
          </p:grpSpPr>
          <p:sp>
            <p:nvSpPr>
              <p:cNvPr id="2083" name="Овал 2082">
                <a:extLst>
                  <a:ext uri="{FF2B5EF4-FFF2-40B4-BE49-F238E27FC236}">
                    <a16:creationId xmlns:a16="http://schemas.microsoft.com/office/drawing/2014/main" id="{D172DB1B-BAEC-4339-8002-81F156A44BCA}"/>
                  </a:ext>
                </a:extLst>
              </p:cNvPr>
              <p:cNvSpPr/>
              <p:nvPr/>
            </p:nvSpPr>
            <p:spPr>
              <a:xfrm>
                <a:off x="4311851" y="-2467013"/>
                <a:ext cx="1497621" cy="149762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pic>
            <p:nvPicPr>
              <p:cNvPr id="2084" name="Picture 6" descr="Picture background">
                <a:extLst>
                  <a:ext uri="{FF2B5EF4-FFF2-40B4-BE49-F238E27FC236}">
                    <a16:creationId xmlns:a16="http://schemas.microsoft.com/office/drawing/2014/main" id="{0A62F935-9FB8-AF03-2B04-B5AAC9F783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 bwMode="auto">
              <a:xfrm>
                <a:off x="4421752" y="-2357113"/>
                <a:ext cx="1277820" cy="12778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085" name="Месяц 2084">
                <a:extLst>
                  <a:ext uri="{FF2B5EF4-FFF2-40B4-BE49-F238E27FC236}">
                    <a16:creationId xmlns:a16="http://schemas.microsoft.com/office/drawing/2014/main" id="{849516DA-A566-1E9F-92C8-36E94AF511E4}"/>
                  </a:ext>
                </a:extLst>
              </p:cNvPr>
              <p:cNvSpPr/>
              <p:nvPr/>
            </p:nvSpPr>
            <p:spPr>
              <a:xfrm rot="13692164">
                <a:off x="5459467" y="-1435715"/>
                <a:ext cx="301811" cy="666506"/>
              </a:xfrm>
              <a:prstGeom prst="moon">
                <a:avLst>
                  <a:gd name="adj" fmla="val 77132"/>
                </a:avLst>
              </a:prstGeom>
              <a:solidFill>
                <a:srgbClr val="6366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86" name="Месяц 2085">
                <a:extLst>
                  <a:ext uri="{FF2B5EF4-FFF2-40B4-BE49-F238E27FC236}">
                    <a16:creationId xmlns:a16="http://schemas.microsoft.com/office/drawing/2014/main" id="{FE40B149-A9E0-64F5-FBC9-CE629304C386}"/>
                  </a:ext>
                </a:extLst>
              </p:cNvPr>
              <p:cNvSpPr/>
              <p:nvPr/>
            </p:nvSpPr>
            <p:spPr>
              <a:xfrm rot="18818312">
                <a:off x="4336927" y="-1455281"/>
                <a:ext cx="301811" cy="666506"/>
              </a:xfrm>
              <a:prstGeom prst="moon">
                <a:avLst>
                  <a:gd name="adj" fmla="val 77132"/>
                </a:avLst>
              </a:prstGeom>
              <a:solidFill>
                <a:srgbClr val="6366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87" name="Месяц 2086">
                <a:extLst>
                  <a:ext uri="{FF2B5EF4-FFF2-40B4-BE49-F238E27FC236}">
                    <a16:creationId xmlns:a16="http://schemas.microsoft.com/office/drawing/2014/main" id="{2829F9E3-E0A1-D008-4620-DB1FD3664E39}"/>
                  </a:ext>
                </a:extLst>
              </p:cNvPr>
              <p:cNvSpPr/>
              <p:nvPr/>
            </p:nvSpPr>
            <p:spPr>
              <a:xfrm rot="3249256">
                <a:off x="4422408" y="-2714226"/>
                <a:ext cx="301811" cy="666506"/>
              </a:xfrm>
              <a:prstGeom prst="moon">
                <a:avLst>
                  <a:gd name="adj" fmla="val 77132"/>
                </a:avLst>
              </a:prstGeom>
              <a:solidFill>
                <a:srgbClr val="6366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88" name="Месяц 2087">
                <a:extLst>
                  <a:ext uri="{FF2B5EF4-FFF2-40B4-BE49-F238E27FC236}">
                    <a16:creationId xmlns:a16="http://schemas.microsoft.com/office/drawing/2014/main" id="{04961D9B-3D41-D7D8-4413-B080917E2434}"/>
                  </a:ext>
                </a:extLst>
              </p:cNvPr>
              <p:cNvSpPr/>
              <p:nvPr/>
            </p:nvSpPr>
            <p:spPr>
              <a:xfrm rot="8006030">
                <a:off x="5469403" y="-2652244"/>
                <a:ext cx="301811" cy="666506"/>
              </a:xfrm>
              <a:prstGeom prst="moon">
                <a:avLst>
                  <a:gd name="adj" fmla="val 77132"/>
                </a:avLst>
              </a:prstGeom>
              <a:solidFill>
                <a:srgbClr val="6366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C5E6FB1-AFD8-1A0E-D50D-5CC007D224DF}"/>
              </a:ext>
            </a:extLst>
          </p:cNvPr>
          <p:cNvSpPr txBox="1"/>
          <p:nvPr/>
        </p:nvSpPr>
        <p:spPr>
          <a:xfrm>
            <a:off x="4435082" y="2225932"/>
            <a:ext cx="57479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Единый язык (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JS</a:t>
            </a: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Асинхронная обработка запросов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производительность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Удобное создание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Хорошая интеграция с фронтендом</a:t>
            </a:r>
          </a:p>
        </p:txBody>
      </p:sp>
    </p:spTree>
    <p:extLst>
      <p:ext uri="{BB962C8B-B14F-4D97-AF65-F5344CB8AC3E}">
        <p14:creationId xmlns:p14="http://schemas.microsoft.com/office/powerpoint/2010/main" val="36758703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6" dur="1000" fill="hold"/>
                                        <p:tgtEl>
                                          <p:spTgt spid="20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DD79A-4F01-FA29-E594-3AD1E8792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6D90B3-B9C7-57A3-48C3-4914C31A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7638" y="0"/>
            <a:ext cx="6896724" cy="1325563"/>
          </a:xfrm>
        </p:spPr>
        <p:txBody>
          <a:bodyPr/>
          <a:lstStyle/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Инструменты и технологии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85C08E-9DD5-CEE1-455F-2C0A2F1A8665}"/>
              </a:ext>
            </a:extLst>
          </p:cNvPr>
          <p:cNvSpPr txBox="1"/>
          <p:nvPr/>
        </p:nvSpPr>
        <p:spPr>
          <a:xfrm>
            <a:off x="4435082" y="1355392"/>
            <a:ext cx="55124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Для написания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ф</a:t>
            </a:r>
            <a:r>
              <a:rPr lang="ru-RU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ронтенда я выбрала 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React + Vite</a:t>
            </a: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потому что:</a:t>
            </a: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EF9A03B8-49ED-30A7-997D-67BC38B4D0A1}"/>
              </a:ext>
            </a:extLst>
          </p:cNvPr>
          <p:cNvGrpSpPr/>
          <p:nvPr/>
        </p:nvGrpSpPr>
        <p:grpSpPr>
          <a:xfrm>
            <a:off x="-3449237" y="543005"/>
            <a:ext cx="6897600" cy="7124079"/>
            <a:chOff x="-3449237" y="543005"/>
            <a:chExt cx="6897600" cy="7124079"/>
          </a:xfrm>
        </p:grpSpPr>
        <p:sp>
          <p:nvSpPr>
            <p:cNvPr id="3" name="Кольцо 2">
              <a:extLst>
                <a:ext uri="{FF2B5EF4-FFF2-40B4-BE49-F238E27FC236}">
                  <a16:creationId xmlns:a16="http://schemas.microsoft.com/office/drawing/2014/main" id="{348973F9-E57F-40BF-0838-56AE8F297B55}"/>
                </a:ext>
              </a:extLst>
            </p:cNvPr>
            <p:cNvSpPr/>
            <p:nvPr/>
          </p:nvSpPr>
          <p:spPr>
            <a:xfrm rot="10800000">
              <a:off x="-3449237" y="712487"/>
              <a:ext cx="6897599" cy="6897348"/>
            </a:xfrm>
            <a:prstGeom prst="donut">
              <a:avLst/>
            </a:prstGeom>
            <a:solidFill>
              <a:srgbClr val="6366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grpSp>
          <p:nvGrpSpPr>
            <p:cNvPr id="51" name="Группа 50">
              <a:extLst>
                <a:ext uri="{FF2B5EF4-FFF2-40B4-BE49-F238E27FC236}">
                  <a16:creationId xmlns:a16="http://schemas.microsoft.com/office/drawing/2014/main" id="{185DFEE0-778E-22EF-415F-FA888B7F81ED}"/>
                </a:ext>
              </a:extLst>
            </p:cNvPr>
            <p:cNvGrpSpPr/>
            <p:nvPr/>
          </p:nvGrpSpPr>
          <p:grpSpPr>
            <a:xfrm rot="157974">
              <a:off x="-757377" y="5847975"/>
              <a:ext cx="1466091" cy="1819109"/>
              <a:chOff x="2966377" y="3564021"/>
              <a:chExt cx="1465905" cy="1819109"/>
            </a:xfrm>
          </p:grpSpPr>
          <p:grpSp>
            <p:nvGrpSpPr>
              <p:cNvPr id="6" name="Группа 5">
                <a:extLst>
                  <a:ext uri="{FF2B5EF4-FFF2-40B4-BE49-F238E27FC236}">
                    <a16:creationId xmlns:a16="http://schemas.microsoft.com/office/drawing/2014/main" id="{A3E13066-9C33-4FA4-CDA8-277DED247522}"/>
                  </a:ext>
                </a:extLst>
              </p:cNvPr>
              <p:cNvGrpSpPr/>
              <p:nvPr/>
            </p:nvGrpSpPr>
            <p:grpSpPr>
              <a:xfrm rot="5400000">
                <a:off x="2942501" y="3749525"/>
                <a:ext cx="1505927" cy="1425020"/>
                <a:chOff x="1580173" y="3080083"/>
                <a:chExt cx="1400824" cy="1325564"/>
              </a:xfrm>
            </p:grpSpPr>
            <p:sp>
              <p:nvSpPr>
                <p:cNvPr id="4" name="Овал 3">
                  <a:extLst>
                    <a:ext uri="{FF2B5EF4-FFF2-40B4-BE49-F238E27FC236}">
                      <a16:creationId xmlns:a16="http://schemas.microsoft.com/office/drawing/2014/main" id="{BA96539E-E5BF-ECAE-563B-DE43D132DDA4}"/>
                    </a:ext>
                  </a:extLst>
                </p:cNvPr>
                <p:cNvSpPr/>
                <p:nvPr/>
              </p:nvSpPr>
              <p:spPr>
                <a:xfrm>
                  <a:off x="1580173" y="3080083"/>
                  <a:ext cx="1400824" cy="132556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pic>
              <p:nvPicPr>
                <p:cNvPr id="2052" name="Picture 4" descr="Picture background">
                  <a:extLst>
                    <a:ext uri="{FF2B5EF4-FFF2-40B4-BE49-F238E27FC236}">
                      <a16:creationId xmlns:a16="http://schemas.microsoft.com/office/drawing/2014/main" id="{DF4A353D-A084-9B48-DB29-89F5E656B52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alphaModFix/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colorTemperature colorTemp="5900"/>
                          </a14:imgEffect>
                          <a14:imgEffect>
                            <a14:brightnessContrast bright="40000" contrast="-4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 bwMode="auto">
                <a:xfrm>
                  <a:off x="1723199" y="3199956"/>
                  <a:ext cx="1114773" cy="10858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7" name="Месяц 6">
                <a:extLst>
                  <a:ext uri="{FF2B5EF4-FFF2-40B4-BE49-F238E27FC236}">
                    <a16:creationId xmlns:a16="http://schemas.microsoft.com/office/drawing/2014/main" id="{72EDA252-CF76-B8D1-1AEF-F7CA83868BB2}"/>
                  </a:ext>
                </a:extLst>
              </p:cNvPr>
              <p:cNvSpPr/>
              <p:nvPr/>
            </p:nvSpPr>
            <p:spPr>
              <a:xfrm rot="8490992">
                <a:off x="4133939" y="3574606"/>
                <a:ext cx="298343" cy="716265"/>
              </a:xfrm>
              <a:prstGeom prst="moon">
                <a:avLst>
                  <a:gd name="adj" fmla="val 72290"/>
                </a:avLst>
              </a:prstGeom>
              <a:solidFill>
                <a:srgbClr val="6366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" name="Месяц 7">
                <a:extLst>
                  <a:ext uri="{FF2B5EF4-FFF2-40B4-BE49-F238E27FC236}">
                    <a16:creationId xmlns:a16="http://schemas.microsoft.com/office/drawing/2014/main" id="{464119B0-7D1F-1EFC-EBB2-366342ED9E02}"/>
                  </a:ext>
                </a:extLst>
              </p:cNvPr>
              <p:cNvSpPr/>
              <p:nvPr/>
            </p:nvSpPr>
            <p:spPr>
              <a:xfrm rot="13324706">
                <a:off x="4108699" y="4662849"/>
                <a:ext cx="298343" cy="716265"/>
              </a:xfrm>
              <a:prstGeom prst="moon">
                <a:avLst>
                  <a:gd name="adj" fmla="val 72290"/>
                </a:avLst>
              </a:prstGeom>
              <a:solidFill>
                <a:srgbClr val="6366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9" name="Месяц 8">
                <a:extLst>
                  <a:ext uri="{FF2B5EF4-FFF2-40B4-BE49-F238E27FC236}">
                    <a16:creationId xmlns:a16="http://schemas.microsoft.com/office/drawing/2014/main" id="{B27161A3-E0C8-0738-BD1D-8446EB747D2C}"/>
                  </a:ext>
                </a:extLst>
              </p:cNvPr>
              <p:cNvSpPr/>
              <p:nvPr/>
            </p:nvSpPr>
            <p:spPr>
              <a:xfrm rot="19155396">
                <a:off x="2979927" y="4666865"/>
                <a:ext cx="298343" cy="716265"/>
              </a:xfrm>
              <a:prstGeom prst="moon">
                <a:avLst>
                  <a:gd name="adj" fmla="val 72290"/>
                </a:avLst>
              </a:prstGeom>
              <a:solidFill>
                <a:srgbClr val="6366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" name="Месяц 9">
                <a:extLst>
                  <a:ext uri="{FF2B5EF4-FFF2-40B4-BE49-F238E27FC236}">
                    <a16:creationId xmlns:a16="http://schemas.microsoft.com/office/drawing/2014/main" id="{17FDEF77-2023-5C3F-11EC-B1EB1BDE54E5}"/>
                  </a:ext>
                </a:extLst>
              </p:cNvPr>
              <p:cNvSpPr/>
              <p:nvPr/>
            </p:nvSpPr>
            <p:spPr>
              <a:xfrm rot="2456484">
                <a:off x="2966377" y="3564021"/>
                <a:ext cx="298343" cy="716265"/>
              </a:xfrm>
              <a:prstGeom prst="moon">
                <a:avLst>
                  <a:gd name="adj" fmla="val 72290"/>
                </a:avLst>
              </a:prstGeom>
              <a:solidFill>
                <a:srgbClr val="6366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47" name="Группа 46">
              <a:extLst>
                <a:ext uri="{FF2B5EF4-FFF2-40B4-BE49-F238E27FC236}">
                  <a16:creationId xmlns:a16="http://schemas.microsoft.com/office/drawing/2014/main" id="{C2CE9B48-4EB8-5094-111E-AF0FA7F1BAE2}"/>
                </a:ext>
              </a:extLst>
            </p:cNvPr>
            <p:cNvGrpSpPr/>
            <p:nvPr/>
          </p:nvGrpSpPr>
          <p:grpSpPr>
            <a:xfrm>
              <a:off x="-918627" y="543005"/>
              <a:ext cx="1655874" cy="1898895"/>
              <a:chOff x="2779417" y="-1810127"/>
              <a:chExt cx="1655664" cy="1898895"/>
            </a:xfrm>
          </p:grpSpPr>
          <p:sp>
            <p:nvSpPr>
              <p:cNvPr id="24" name="Овал 23">
                <a:extLst>
                  <a:ext uri="{FF2B5EF4-FFF2-40B4-BE49-F238E27FC236}">
                    <a16:creationId xmlns:a16="http://schemas.microsoft.com/office/drawing/2014/main" id="{B0028A11-21D6-984A-74F1-BC2AEDE49396}"/>
                  </a:ext>
                </a:extLst>
              </p:cNvPr>
              <p:cNvSpPr/>
              <p:nvPr/>
            </p:nvSpPr>
            <p:spPr>
              <a:xfrm rot="16200000">
                <a:off x="2932611" y="-1578310"/>
                <a:ext cx="1502470" cy="150247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5" name="Месяц 24">
                <a:extLst>
                  <a:ext uri="{FF2B5EF4-FFF2-40B4-BE49-F238E27FC236}">
                    <a16:creationId xmlns:a16="http://schemas.microsoft.com/office/drawing/2014/main" id="{5D4ACDB8-E894-B659-9101-891B0E7E5D4A}"/>
                  </a:ext>
                </a:extLst>
              </p:cNvPr>
              <p:cNvSpPr/>
              <p:nvPr/>
            </p:nvSpPr>
            <p:spPr>
              <a:xfrm rot="18796906">
                <a:off x="3023907" y="-609117"/>
                <a:ext cx="238046" cy="713173"/>
              </a:xfrm>
              <a:prstGeom prst="moon">
                <a:avLst>
                  <a:gd name="adj" fmla="val 66215"/>
                </a:avLst>
              </a:prstGeom>
              <a:solidFill>
                <a:srgbClr val="6366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pic>
            <p:nvPicPr>
              <p:cNvPr id="2056" name="Picture 8" descr="Picture background">
                <a:extLst>
                  <a:ext uri="{FF2B5EF4-FFF2-40B4-BE49-F238E27FC236}">
                    <a16:creationId xmlns:a16="http://schemas.microsoft.com/office/drawing/2014/main" id="{57F69C60-195C-CFCC-5CD8-4991FA1CB67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 bwMode="auto">
              <a:xfrm rot="16200000">
                <a:off x="3204110" y="-1442697"/>
                <a:ext cx="1148041" cy="11614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3" name="Рисунок 22">
                <a:extLst>
                  <a:ext uri="{FF2B5EF4-FFF2-40B4-BE49-F238E27FC236}">
                    <a16:creationId xmlns:a16="http://schemas.microsoft.com/office/drawing/2014/main" id="{1B9CB70F-0AF5-0D4E-A6E4-A18086640E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16200000">
                <a:off x="3132102" y="-1598704"/>
                <a:ext cx="1438168" cy="1015321"/>
              </a:xfrm>
              <a:prstGeom prst="rect">
                <a:avLst/>
              </a:prstGeom>
            </p:spPr>
          </p:pic>
          <p:sp>
            <p:nvSpPr>
              <p:cNvPr id="26" name="Месяц 25">
                <a:extLst>
                  <a:ext uri="{FF2B5EF4-FFF2-40B4-BE49-F238E27FC236}">
                    <a16:creationId xmlns:a16="http://schemas.microsoft.com/office/drawing/2014/main" id="{080A68C0-7223-E407-5E0A-6874EBD5E692}"/>
                  </a:ext>
                </a:extLst>
              </p:cNvPr>
              <p:cNvSpPr/>
              <p:nvPr/>
            </p:nvSpPr>
            <p:spPr>
              <a:xfrm rot="2781742">
                <a:off x="3016981" y="-1750218"/>
                <a:ext cx="238046" cy="713173"/>
              </a:xfrm>
              <a:prstGeom prst="moon">
                <a:avLst>
                  <a:gd name="adj" fmla="val 66215"/>
                </a:avLst>
              </a:prstGeom>
              <a:solidFill>
                <a:srgbClr val="6366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8" name="Месяц 27">
                <a:extLst>
                  <a:ext uri="{FF2B5EF4-FFF2-40B4-BE49-F238E27FC236}">
                    <a16:creationId xmlns:a16="http://schemas.microsoft.com/office/drawing/2014/main" id="{52E0484E-E778-4FF6-D021-A304B426F255}"/>
                  </a:ext>
                </a:extLst>
              </p:cNvPr>
              <p:cNvSpPr/>
              <p:nvPr/>
            </p:nvSpPr>
            <p:spPr>
              <a:xfrm rot="8323782">
                <a:off x="4169516" y="-1699035"/>
                <a:ext cx="238046" cy="713173"/>
              </a:xfrm>
              <a:prstGeom prst="moon">
                <a:avLst>
                  <a:gd name="adj" fmla="val 67101"/>
                </a:avLst>
              </a:prstGeom>
              <a:solidFill>
                <a:srgbClr val="6366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7" name="Месяц 26">
                <a:extLst>
                  <a:ext uri="{FF2B5EF4-FFF2-40B4-BE49-F238E27FC236}">
                    <a16:creationId xmlns:a16="http://schemas.microsoft.com/office/drawing/2014/main" id="{67D763B6-886F-AEBD-D4A0-F2E1F126EB56}"/>
                  </a:ext>
                </a:extLst>
              </p:cNvPr>
              <p:cNvSpPr/>
              <p:nvPr/>
            </p:nvSpPr>
            <p:spPr>
              <a:xfrm rot="13430561">
                <a:off x="4112698" y="-646168"/>
                <a:ext cx="238046" cy="734936"/>
              </a:xfrm>
              <a:prstGeom prst="moon">
                <a:avLst>
                  <a:gd name="adj" fmla="val 66215"/>
                </a:avLst>
              </a:prstGeom>
              <a:solidFill>
                <a:srgbClr val="6366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49" name="Группа 48">
              <a:extLst>
                <a:ext uri="{FF2B5EF4-FFF2-40B4-BE49-F238E27FC236}">
                  <a16:creationId xmlns:a16="http://schemas.microsoft.com/office/drawing/2014/main" id="{0AE9C763-863D-FFEE-B5A2-97F78D55F828}"/>
                </a:ext>
              </a:extLst>
            </p:cNvPr>
            <p:cNvGrpSpPr/>
            <p:nvPr/>
          </p:nvGrpSpPr>
          <p:grpSpPr>
            <a:xfrm>
              <a:off x="1649153" y="3371000"/>
              <a:ext cx="1799210" cy="1580322"/>
              <a:chOff x="4154580" y="-2531879"/>
              <a:chExt cx="1798982" cy="1580322"/>
            </a:xfrm>
          </p:grpSpPr>
          <p:sp>
            <p:nvSpPr>
              <p:cNvPr id="14" name="Овал 13">
                <a:extLst>
                  <a:ext uri="{FF2B5EF4-FFF2-40B4-BE49-F238E27FC236}">
                    <a16:creationId xmlns:a16="http://schemas.microsoft.com/office/drawing/2014/main" id="{85DE1D1B-08E9-AC47-802B-C04587814374}"/>
                  </a:ext>
                </a:extLst>
              </p:cNvPr>
              <p:cNvSpPr/>
              <p:nvPr/>
            </p:nvSpPr>
            <p:spPr>
              <a:xfrm>
                <a:off x="4311851" y="-2467013"/>
                <a:ext cx="1497621" cy="149762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pic>
            <p:nvPicPr>
              <p:cNvPr id="2054" name="Picture 6" descr="Picture background">
                <a:extLst>
                  <a:ext uri="{FF2B5EF4-FFF2-40B4-BE49-F238E27FC236}">
                    <a16:creationId xmlns:a16="http://schemas.microsoft.com/office/drawing/2014/main" id="{B74E08FF-07A1-C17B-F5F6-AC6596578AC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 bwMode="auto">
              <a:xfrm>
                <a:off x="4421752" y="-2357113"/>
                <a:ext cx="1277820" cy="12778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7" name="Месяц 16">
                <a:extLst>
                  <a:ext uri="{FF2B5EF4-FFF2-40B4-BE49-F238E27FC236}">
                    <a16:creationId xmlns:a16="http://schemas.microsoft.com/office/drawing/2014/main" id="{E5CC6D5E-61EC-69C1-ADB9-CCA393694989}"/>
                  </a:ext>
                </a:extLst>
              </p:cNvPr>
              <p:cNvSpPr/>
              <p:nvPr/>
            </p:nvSpPr>
            <p:spPr>
              <a:xfrm rot="13692164">
                <a:off x="5459467" y="-1435715"/>
                <a:ext cx="301811" cy="666506"/>
              </a:xfrm>
              <a:prstGeom prst="moon">
                <a:avLst>
                  <a:gd name="adj" fmla="val 77132"/>
                </a:avLst>
              </a:prstGeom>
              <a:solidFill>
                <a:srgbClr val="6366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8" name="Месяц 17">
                <a:extLst>
                  <a:ext uri="{FF2B5EF4-FFF2-40B4-BE49-F238E27FC236}">
                    <a16:creationId xmlns:a16="http://schemas.microsoft.com/office/drawing/2014/main" id="{1C590992-9903-E217-3438-785186CB7FD0}"/>
                  </a:ext>
                </a:extLst>
              </p:cNvPr>
              <p:cNvSpPr/>
              <p:nvPr/>
            </p:nvSpPr>
            <p:spPr>
              <a:xfrm rot="18818312">
                <a:off x="4336927" y="-1455281"/>
                <a:ext cx="301811" cy="666506"/>
              </a:xfrm>
              <a:prstGeom prst="moon">
                <a:avLst>
                  <a:gd name="adj" fmla="val 77132"/>
                </a:avLst>
              </a:prstGeom>
              <a:solidFill>
                <a:srgbClr val="6366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" name="Месяц 14">
                <a:extLst>
                  <a:ext uri="{FF2B5EF4-FFF2-40B4-BE49-F238E27FC236}">
                    <a16:creationId xmlns:a16="http://schemas.microsoft.com/office/drawing/2014/main" id="{5CBE199A-FD27-443C-AFF8-27BCA21294F9}"/>
                  </a:ext>
                </a:extLst>
              </p:cNvPr>
              <p:cNvSpPr/>
              <p:nvPr/>
            </p:nvSpPr>
            <p:spPr>
              <a:xfrm rot="3249256">
                <a:off x="4422408" y="-2714226"/>
                <a:ext cx="301811" cy="666506"/>
              </a:xfrm>
              <a:prstGeom prst="moon">
                <a:avLst>
                  <a:gd name="adj" fmla="val 77132"/>
                </a:avLst>
              </a:prstGeom>
              <a:solidFill>
                <a:srgbClr val="6366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" name="Месяц 15">
                <a:extLst>
                  <a:ext uri="{FF2B5EF4-FFF2-40B4-BE49-F238E27FC236}">
                    <a16:creationId xmlns:a16="http://schemas.microsoft.com/office/drawing/2014/main" id="{D3FBEF67-07F5-A276-ACAF-B0FB2334B417}"/>
                  </a:ext>
                </a:extLst>
              </p:cNvPr>
              <p:cNvSpPr/>
              <p:nvPr/>
            </p:nvSpPr>
            <p:spPr>
              <a:xfrm rot="8006030">
                <a:off x="5469403" y="-2652244"/>
                <a:ext cx="301811" cy="666506"/>
              </a:xfrm>
              <a:prstGeom prst="moon">
                <a:avLst>
                  <a:gd name="adj" fmla="val 77132"/>
                </a:avLst>
              </a:prstGeom>
              <a:solidFill>
                <a:srgbClr val="6366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D5D5183-A7D7-B83E-DD3D-17C1547D7191}"/>
              </a:ext>
            </a:extLst>
          </p:cNvPr>
          <p:cNvSpPr txBox="1"/>
          <p:nvPr/>
        </p:nvSpPr>
        <p:spPr>
          <a:xfrm>
            <a:off x="4447578" y="2131083"/>
            <a:ext cx="66850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компонентная архитектура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динамический и интерактивный интерфейс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производительность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быстрый запуск и сборка проекта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удобство разработки (</a:t>
            </a:r>
            <a:r>
              <a:rPr lang="en" sz="2400">
                <a:latin typeface="Times New Roman" panose="02020603050405020304" pitchFamily="18" charset="0"/>
                <a:cs typeface="Times New Roman" panose="02020603050405020304" pitchFamily="18" charset="0"/>
              </a:rPr>
              <a:t>HMR)</a:t>
            </a:r>
          </a:p>
        </p:txBody>
      </p:sp>
    </p:spTree>
    <p:extLst>
      <p:ext uri="{BB962C8B-B14F-4D97-AF65-F5344CB8AC3E}">
        <p14:creationId xmlns:p14="http://schemas.microsoft.com/office/powerpoint/2010/main" val="35971654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4BAFB2-68D5-2F51-361A-624CE5BDB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219" y="243205"/>
            <a:ext cx="10813139" cy="1189355"/>
          </a:xfrm>
        </p:spPr>
        <p:txBody>
          <a:bodyPr>
            <a:norm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UML</a:t>
            </a:r>
            <a:r>
              <a:rPr lang="ru-RU" sz="4000">
                <a:latin typeface="Times New Roman" panose="02020603050405020304" pitchFamily="18" charset="0"/>
                <a:cs typeface="Times New Roman" panose="02020603050405020304" pitchFamily="18" charset="0"/>
              </a:rPr>
              <a:t> диаграмма вариантов использования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EB24FA4-3248-0604-CE8B-36E13D67E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097" y="1073932"/>
            <a:ext cx="7399805" cy="5784068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6B21B7E-69AF-1D4C-D09E-912D6981D6CA}"/>
              </a:ext>
            </a:extLst>
          </p:cNvPr>
          <p:cNvSpPr/>
          <p:nvPr/>
        </p:nvSpPr>
        <p:spPr>
          <a:xfrm>
            <a:off x="7146063" y="4286579"/>
            <a:ext cx="1670233" cy="1368958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B3CB71-4ABB-5EF4-279A-4866036D7072}"/>
              </a:ext>
            </a:extLst>
          </p:cNvPr>
          <p:cNvSpPr txBox="1"/>
          <p:nvPr/>
        </p:nvSpPr>
        <p:spPr>
          <a:xfrm>
            <a:off x="7726409" y="5286205"/>
            <a:ext cx="8440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>
                <a:cs typeface="Times New Roman" panose="02020603050405020304" pitchFamily="18" charset="0"/>
              </a:rPr>
              <a:t>ИИ</a:t>
            </a:r>
          </a:p>
        </p:txBody>
      </p:sp>
      <p:sp>
        <p:nvSpPr>
          <p:cNvPr id="3" name="Месяц 2">
            <a:extLst>
              <a:ext uri="{FF2B5EF4-FFF2-40B4-BE49-F238E27FC236}">
                <a16:creationId xmlns:a16="http://schemas.microsoft.com/office/drawing/2014/main" id="{A44742F2-C389-AF2B-1C96-74B43694F640}"/>
              </a:ext>
            </a:extLst>
          </p:cNvPr>
          <p:cNvSpPr/>
          <p:nvPr/>
        </p:nvSpPr>
        <p:spPr>
          <a:xfrm rot="18838172">
            <a:off x="-181402" y="5117264"/>
            <a:ext cx="1311539" cy="2631455"/>
          </a:xfrm>
          <a:custGeom>
            <a:avLst/>
            <a:gdLst>
              <a:gd name="csX0" fmla="*/ 1295235 w 1311539"/>
              <a:gd name="csY0" fmla="*/ 2631455 h 2631455"/>
              <a:gd name="csX1" fmla="*/ 0 w 1311539"/>
              <a:gd name="csY1" fmla="*/ 1270882 h 2631455"/>
              <a:gd name="csX2" fmla="*/ 1311539 w 1311539"/>
              <a:gd name="csY2" fmla="*/ 0 h 2631455"/>
              <a:gd name="csX3" fmla="*/ 1295235 w 1311539"/>
              <a:gd name="csY3" fmla="*/ 2631455 h 26314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311539" h="2631455">
                <a:moveTo>
                  <a:pt x="1295235" y="2631455"/>
                </a:moveTo>
                <a:cubicBezTo>
                  <a:pt x="-8981" y="1254088"/>
                  <a:pt x="1317882" y="2657466"/>
                  <a:pt x="0" y="1270882"/>
                </a:cubicBezTo>
                <a:cubicBezTo>
                  <a:pt x="643890" y="674048"/>
                  <a:pt x="274716" y="1028201"/>
                  <a:pt x="1311539" y="0"/>
                </a:cubicBezTo>
                <a:cubicBezTo>
                  <a:pt x="785075" y="836164"/>
                  <a:pt x="768771" y="1795291"/>
                  <a:pt x="1295235" y="2631455"/>
                </a:cubicBezTo>
                <a:close/>
              </a:path>
            </a:pathLst>
          </a:custGeom>
          <a:solidFill>
            <a:srgbClr val="6366F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Месяц 2">
            <a:extLst>
              <a:ext uri="{FF2B5EF4-FFF2-40B4-BE49-F238E27FC236}">
                <a16:creationId xmlns:a16="http://schemas.microsoft.com/office/drawing/2014/main" id="{78AEED9B-CD73-4404-A76C-885B0D9C045B}"/>
              </a:ext>
            </a:extLst>
          </p:cNvPr>
          <p:cNvSpPr/>
          <p:nvPr/>
        </p:nvSpPr>
        <p:spPr>
          <a:xfrm rot="8012868">
            <a:off x="11108222" y="-905088"/>
            <a:ext cx="1311539" cy="2631455"/>
          </a:xfrm>
          <a:custGeom>
            <a:avLst/>
            <a:gdLst>
              <a:gd name="csX0" fmla="*/ 1295235 w 1311539"/>
              <a:gd name="csY0" fmla="*/ 2631455 h 2631455"/>
              <a:gd name="csX1" fmla="*/ 0 w 1311539"/>
              <a:gd name="csY1" fmla="*/ 1270882 h 2631455"/>
              <a:gd name="csX2" fmla="*/ 1311539 w 1311539"/>
              <a:gd name="csY2" fmla="*/ 0 h 2631455"/>
              <a:gd name="csX3" fmla="*/ 1295235 w 1311539"/>
              <a:gd name="csY3" fmla="*/ 2631455 h 26314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311539" h="2631455">
                <a:moveTo>
                  <a:pt x="1295235" y="2631455"/>
                </a:moveTo>
                <a:cubicBezTo>
                  <a:pt x="-8981" y="1254088"/>
                  <a:pt x="1317882" y="2657466"/>
                  <a:pt x="0" y="1270882"/>
                </a:cubicBezTo>
                <a:cubicBezTo>
                  <a:pt x="643890" y="674048"/>
                  <a:pt x="274716" y="1028201"/>
                  <a:pt x="1311539" y="0"/>
                </a:cubicBezTo>
                <a:cubicBezTo>
                  <a:pt x="785075" y="836164"/>
                  <a:pt x="768771" y="1795291"/>
                  <a:pt x="1295235" y="2631455"/>
                </a:cubicBezTo>
                <a:close/>
              </a:path>
            </a:pathLst>
          </a:custGeom>
          <a:solidFill>
            <a:srgbClr val="6366F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594001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62214F-AC55-5674-C4A9-726B5AE40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69" y="-186668"/>
            <a:ext cx="6997262" cy="1325563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UML 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классов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6E1C98A1-09F0-B36E-8C14-D3C28D21F946}"/>
              </a:ext>
            </a:extLst>
          </p:cNvPr>
          <p:cNvGrpSpPr/>
          <p:nvPr/>
        </p:nvGrpSpPr>
        <p:grpSpPr>
          <a:xfrm>
            <a:off x="1893423" y="834095"/>
            <a:ext cx="8405154" cy="5719105"/>
            <a:chOff x="1774801" y="1052420"/>
            <a:chExt cx="7911365" cy="5343069"/>
          </a:xfrm>
        </p:grpSpPr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AD841E3C-F014-8B1F-5560-4CF7CC41AE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774801" y="1052420"/>
              <a:ext cx="7757908" cy="5343069"/>
            </a:xfrm>
            <a:prstGeom prst="rect">
              <a:avLst/>
            </a:prstGeom>
          </p:spPr>
        </p:pic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24140A28-4C56-895E-D7AC-1D2198BDBC1F}"/>
                </a:ext>
              </a:extLst>
            </p:cNvPr>
            <p:cNvSpPr/>
            <p:nvPr/>
          </p:nvSpPr>
          <p:spPr>
            <a:xfrm>
              <a:off x="6959151" y="1310910"/>
              <a:ext cx="2727015" cy="29616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5" name="Месяц 2">
            <a:extLst>
              <a:ext uri="{FF2B5EF4-FFF2-40B4-BE49-F238E27FC236}">
                <a16:creationId xmlns:a16="http://schemas.microsoft.com/office/drawing/2014/main" id="{84D3AEA2-72BA-B937-9D54-75089BFAF707}"/>
              </a:ext>
            </a:extLst>
          </p:cNvPr>
          <p:cNvSpPr/>
          <p:nvPr/>
        </p:nvSpPr>
        <p:spPr>
          <a:xfrm rot="2634066">
            <a:off x="-228452" y="-831869"/>
            <a:ext cx="1311539" cy="2631455"/>
          </a:xfrm>
          <a:custGeom>
            <a:avLst/>
            <a:gdLst>
              <a:gd name="csX0" fmla="*/ 1295235 w 1311539"/>
              <a:gd name="csY0" fmla="*/ 2631455 h 2631455"/>
              <a:gd name="csX1" fmla="*/ 0 w 1311539"/>
              <a:gd name="csY1" fmla="*/ 1270882 h 2631455"/>
              <a:gd name="csX2" fmla="*/ 1311539 w 1311539"/>
              <a:gd name="csY2" fmla="*/ 0 h 2631455"/>
              <a:gd name="csX3" fmla="*/ 1295235 w 1311539"/>
              <a:gd name="csY3" fmla="*/ 2631455 h 26314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311539" h="2631455">
                <a:moveTo>
                  <a:pt x="1295235" y="2631455"/>
                </a:moveTo>
                <a:cubicBezTo>
                  <a:pt x="-8981" y="1254088"/>
                  <a:pt x="1317882" y="2657466"/>
                  <a:pt x="0" y="1270882"/>
                </a:cubicBezTo>
                <a:cubicBezTo>
                  <a:pt x="643890" y="674048"/>
                  <a:pt x="274716" y="1028201"/>
                  <a:pt x="1311539" y="0"/>
                </a:cubicBezTo>
                <a:cubicBezTo>
                  <a:pt x="785075" y="836164"/>
                  <a:pt x="768771" y="1795291"/>
                  <a:pt x="1295235" y="2631455"/>
                </a:cubicBezTo>
                <a:close/>
              </a:path>
            </a:pathLst>
          </a:custGeom>
          <a:solidFill>
            <a:srgbClr val="6366F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Месяц 2">
            <a:extLst>
              <a:ext uri="{FF2B5EF4-FFF2-40B4-BE49-F238E27FC236}">
                <a16:creationId xmlns:a16="http://schemas.microsoft.com/office/drawing/2014/main" id="{19F22DD3-E86B-C1C4-739B-248842E64FEF}"/>
              </a:ext>
            </a:extLst>
          </p:cNvPr>
          <p:cNvSpPr/>
          <p:nvPr/>
        </p:nvSpPr>
        <p:spPr>
          <a:xfrm rot="13415570">
            <a:off x="11104816" y="5062162"/>
            <a:ext cx="1311539" cy="2631455"/>
          </a:xfrm>
          <a:custGeom>
            <a:avLst/>
            <a:gdLst>
              <a:gd name="csX0" fmla="*/ 1295235 w 1311539"/>
              <a:gd name="csY0" fmla="*/ 2631455 h 2631455"/>
              <a:gd name="csX1" fmla="*/ 0 w 1311539"/>
              <a:gd name="csY1" fmla="*/ 1270882 h 2631455"/>
              <a:gd name="csX2" fmla="*/ 1311539 w 1311539"/>
              <a:gd name="csY2" fmla="*/ 0 h 2631455"/>
              <a:gd name="csX3" fmla="*/ 1295235 w 1311539"/>
              <a:gd name="csY3" fmla="*/ 2631455 h 26314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311539" h="2631455">
                <a:moveTo>
                  <a:pt x="1295235" y="2631455"/>
                </a:moveTo>
                <a:cubicBezTo>
                  <a:pt x="-8981" y="1254088"/>
                  <a:pt x="1317882" y="2657466"/>
                  <a:pt x="0" y="1270882"/>
                </a:cubicBezTo>
                <a:cubicBezTo>
                  <a:pt x="643890" y="674048"/>
                  <a:pt x="274716" y="1028201"/>
                  <a:pt x="1311539" y="0"/>
                </a:cubicBezTo>
                <a:cubicBezTo>
                  <a:pt x="785075" y="836164"/>
                  <a:pt x="768771" y="1795291"/>
                  <a:pt x="1295235" y="2631455"/>
                </a:cubicBezTo>
                <a:close/>
              </a:path>
            </a:pathLst>
          </a:custGeom>
          <a:solidFill>
            <a:srgbClr val="6366F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736454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D5B7EF-7A4A-BD76-BC7B-73A150FF7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Теоретическая часть: архитектурные подходы</a:t>
            </a:r>
          </a:p>
        </p:txBody>
      </p:sp>
      <p:sp>
        <p:nvSpPr>
          <p:cNvPr id="3" name="Месяц 2">
            <a:extLst>
              <a:ext uri="{FF2B5EF4-FFF2-40B4-BE49-F238E27FC236}">
                <a16:creationId xmlns:a16="http://schemas.microsoft.com/office/drawing/2014/main" id="{C8734F65-D6D7-C646-B24D-7085C2F20603}"/>
              </a:ext>
            </a:extLst>
          </p:cNvPr>
          <p:cNvSpPr/>
          <p:nvPr/>
        </p:nvSpPr>
        <p:spPr>
          <a:xfrm rot="18838172">
            <a:off x="-181402" y="5117264"/>
            <a:ext cx="1311539" cy="2631455"/>
          </a:xfrm>
          <a:custGeom>
            <a:avLst/>
            <a:gdLst>
              <a:gd name="csX0" fmla="*/ 1295235 w 1311539"/>
              <a:gd name="csY0" fmla="*/ 2631455 h 2631455"/>
              <a:gd name="csX1" fmla="*/ 0 w 1311539"/>
              <a:gd name="csY1" fmla="*/ 1270882 h 2631455"/>
              <a:gd name="csX2" fmla="*/ 1311539 w 1311539"/>
              <a:gd name="csY2" fmla="*/ 0 h 2631455"/>
              <a:gd name="csX3" fmla="*/ 1295235 w 1311539"/>
              <a:gd name="csY3" fmla="*/ 2631455 h 26314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311539" h="2631455">
                <a:moveTo>
                  <a:pt x="1295235" y="2631455"/>
                </a:moveTo>
                <a:cubicBezTo>
                  <a:pt x="-8981" y="1254088"/>
                  <a:pt x="1317882" y="2657466"/>
                  <a:pt x="0" y="1270882"/>
                </a:cubicBezTo>
                <a:cubicBezTo>
                  <a:pt x="643890" y="674048"/>
                  <a:pt x="274716" y="1028201"/>
                  <a:pt x="1311539" y="0"/>
                </a:cubicBezTo>
                <a:cubicBezTo>
                  <a:pt x="785075" y="836164"/>
                  <a:pt x="768771" y="1795291"/>
                  <a:pt x="1295235" y="2631455"/>
                </a:cubicBezTo>
                <a:close/>
              </a:path>
            </a:pathLst>
          </a:custGeom>
          <a:solidFill>
            <a:srgbClr val="6366F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393C1EE-659A-BD39-E3FA-2CF7C2B4D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09" y="1456329"/>
            <a:ext cx="10830791" cy="4539771"/>
          </a:xfrm>
          <a:prstGeom prst="rect">
            <a:avLst/>
          </a:prstGeom>
        </p:spPr>
      </p:pic>
      <p:sp>
        <p:nvSpPr>
          <p:cNvPr id="5" name="Месяц 2">
            <a:extLst>
              <a:ext uri="{FF2B5EF4-FFF2-40B4-BE49-F238E27FC236}">
                <a16:creationId xmlns:a16="http://schemas.microsoft.com/office/drawing/2014/main" id="{6A0BB0C0-7B87-9209-C435-F6A403940FAA}"/>
              </a:ext>
            </a:extLst>
          </p:cNvPr>
          <p:cNvSpPr/>
          <p:nvPr/>
        </p:nvSpPr>
        <p:spPr>
          <a:xfrm rot="8012868">
            <a:off x="11108222" y="-905088"/>
            <a:ext cx="1311539" cy="2631455"/>
          </a:xfrm>
          <a:custGeom>
            <a:avLst/>
            <a:gdLst>
              <a:gd name="csX0" fmla="*/ 1295235 w 1311539"/>
              <a:gd name="csY0" fmla="*/ 2631455 h 2631455"/>
              <a:gd name="csX1" fmla="*/ 0 w 1311539"/>
              <a:gd name="csY1" fmla="*/ 1270882 h 2631455"/>
              <a:gd name="csX2" fmla="*/ 1311539 w 1311539"/>
              <a:gd name="csY2" fmla="*/ 0 h 2631455"/>
              <a:gd name="csX3" fmla="*/ 1295235 w 1311539"/>
              <a:gd name="csY3" fmla="*/ 2631455 h 26314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311539" h="2631455">
                <a:moveTo>
                  <a:pt x="1295235" y="2631455"/>
                </a:moveTo>
                <a:cubicBezTo>
                  <a:pt x="-8981" y="1254088"/>
                  <a:pt x="1317882" y="2657466"/>
                  <a:pt x="0" y="1270882"/>
                </a:cubicBezTo>
                <a:cubicBezTo>
                  <a:pt x="643890" y="674048"/>
                  <a:pt x="274716" y="1028201"/>
                  <a:pt x="1311539" y="0"/>
                </a:cubicBezTo>
                <a:cubicBezTo>
                  <a:pt x="785075" y="836164"/>
                  <a:pt x="768771" y="1795291"/>
                  <a:pt x="1295235" y="2631455"/>
                </a:cubicBezTo>
                <a:close/>
              </a:path>
            </a:pathLst>
          </a:custGeom>
          <a:solidFill>
            <a:srgbClr val="6366F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28803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480AD5-923D-B871-4B65-BD233B7F7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0720" y="-170902"/>
            <a:ext cx="9330559" cy="1325563"/>
          </a:xfrm>
        </p:spPr>
        <p:txBody>
          <a:bodyPr>
            <a:normAutofit/>
          </a:bodyPr>
          <a:lstStyle/>
          <a:p>
            <a:r>
              <a:rPr lang="ru-RU" sz="4000">
                <a:latin typeface="Times New Roman" panose="02020603050405020304" pitchFamily="18" charset="0"/>
                <a:cs typeface="Times New Roman" panose="02020603050405020304" pitchFamily="18" charset="0"/>
              </a:rPr>
              <a:t>Теоретическая часть: повышения уровня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D8DA738-A0A6-DA61-BB43-6FD0FFBDE5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0163" y="1217256"/>
            <a:ext cx="9731673" cy="4423488"/>
          </a:xfrm>
          <a:prstGeom prst="rect">
            <a:avLst/>
          </a:prstGeom>
        </p:spPr>
      </p:pic>
      <p:sp>
        <p:nvSpPr>
          <p:cNvPr id="5" name="Месяц 2">
            <a:extLst>
              <a:ext uri="{FF2B5EF4-FFF2-40B4-BE49-F238E27FC236}">
                <a16:creationId xmlns:a16="http://schemas.microsoft.com/office/drawing/2014/main" id="{1679EBB7-F135-4A14-DA47-05F8B55EC272}"/>
              </a:ext>
            </a:extLst>
          </p:cNvPr>
          <p:cNvSpPr/>
          <p:nvPr/>
        </p:nvSpPr>
        <p:spPr>
          <a:xfrm rot="2634066">
            <a:off x="-228452" y="-831869"/>
            <a:ext cx="1311539" cy="2631455"/>
          </a:xfrm>
          <a:custGeom>
            <a:avLst/>
            <a:gdLst>
              <a:gd name="csX0" fmla="*/ 1295235 w 1311539"/>
              <a:gd name="csY0" fmla="*/ 2631455 h 2631455"/>
              <a:gd name="csX1" fmla="*/ 0 w 1311539"/>
              <a:gd name="csY1" fmla="*/ 1270882 h 2631455"/>
              <a:gd name="csX2" fmla="*/ 1311539 w 1311539"/>
              <a:gd name="csY2" fmla="*/ 0 h 2631455"/>
              <a:gd name="csX3" fmla="*/ 1295235 w 1311539"/>
              <a:gd name="csY3" fmla="*/ 2631455 h 26314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311539" h="2631455">
                <a:moveTo>
                  <a:pt x="1295235" y="2631455"/>
                </a:moveTo>
                <a:cubicBezTo>
                  <a:pt x="-8981" y="1254088"/>
                  <a:pt x="1317882" y="2657466"/>
                  <a:pt x="0" y="1270882"/>
                </a:cubicBezTo>
                <a:cubicBezTo>
                  <a:pt x="643890" y="674048"/>
                  <a:pt x="274716" y="1028201"/>
                  <a:pt x="1311539" y="0"/>
                </a:cubicBezTo>
                <a:cubicBezTo>
                  <a:pt x="785075" y="836164"/>
                  <a:pt x="768771" y="1795291"/>
                  <a:pt x="1295235" y="2631455"/>
                </a:cubicBezTo>
                <a:close/>
              </a:path>
            </a:pathLst>
          </a:custGeom>
          <a:solidFill>
            <a:srgbClr val="6366F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Месяц 2">
            <a:extLst>
              <a:ext uri="{FF2B5EF4-FFF2-40B4-BE49-F238E27FC236}">
                <a16:creationId xmlns:a16="http://schemas.microsoft.com/office/drawing/2014/main" id="{9550F1DA-8A69-4D55-C93F-129047042E87}"/>
              </a:ext>
            </a:extLst>
          </p:cNvPr>
          <p:cNvSpPr/>
          <p:nvPr/>
        </p:nvSpPr>
        <p:spPr>
          <a:xfrm rot="13415570">
            <a:off x="11104816" y="5062162"/>
            <a:ext cx="1311539" cy="2631455"/>
          </a:xfrm>
          <a:custGeom>
            <a:avLst/>
            <a:gdLst>
              <a:gd name="csX0" fmla="*/ 1295235 w 1311539"/>
              <a:gd name="csY0" fmla="*/ 2631455 h 2631455"/>
              <a:gd name="csX1" fmla="*/ 0 w 1311539"/>
              <a:gd name="csY1" fmla="*/ 1270882 h 2631455"/>
              <a:gd name="csX2" fmla="*/ 1311539 w 1311539"/>
              <a:gd name="csY2" fmla="*/ 0 h 2631455"/>
              <a:gd name="csX3" fmla="*/ 1295235 w 1311539"/>
              <a:gd name="csY3" fmla="*/ 2631455 h 26314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311539" h="2631455">
                <a:moveTo>
                  <a:pt x="1295235" y="2631455"/>
                </a:moveTo>
                <a:cubicBezTo>
                  <a:pt x="-8981" y="1254088"/>
                  <a:pt x="1317882" y="2657466"/>
                  <a:pt x="0" y="1270882"/>
                </a:cubicBezTo>
                <a:cubicBezTo>
                  <a:pt x="643890" y="674048"/>
                  <a:pt x="274716" y="1028201"/>
                  <a:pt x="1311539" y="0"/>
                </a:cubicBezTo>
                <a:cubicBezTo>
                  <a:pt x="785075" y="836164"/>
                  <a:pt x="768771" y="1795291"/>
                  <a:pt x="1295235" y="2631455"/>
                </a:cubicBezTo>
                <a:close/>
              </a:path>
            </a:pathLst>
          </a:custGeom>
          <a:solidFill>
            <a:srgbClr val="6366F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9687963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4EDA2F-C706-7CD0-422A-A5654600E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647"/>
            <a:ext cx="10515600" cy="1325563"/>
          </a:xfrm>
        </p:spPr>
        <p:txBody>
          <a:bodyPr/>
          <a:lstStyle/>
          <a:p>
            <a:pPr algn="ctr"/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ru-RU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рактическая часть: страница входа и регистрации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E7729FD-F111-0913-1026-15812C938C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8885" y="1972321"/>
            <a:ext cx="4731298" cy="4885679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6D38897-AD41-DAA2-E8BE-9AF11B0824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4382" y="1972321"/>
            <a:ext cx="4108055" cy="4885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187231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7AD1B5-F865-DD02-3749-F3AF6A61B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90735"/>
            <a:ext cx="10515600" cy="1325563"/>
          </a:xfrm>
        </p:spPr>
        <p:txBody>
          <a:bodyPr/>
          <a:lstStyle/>
          <a:p>
            <a:pPr algn="ctr"/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часть: страница профиля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01705E1-6C40-E897-5CF3-F0115412F7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74800" y="1591621"/>
            <a:ext cx="8580120" cy="4901254"/>
          </a:xfrm>
          <a:prstGeom prst="rect">
            <a:avLst/>
          </a:prstGeom>
        </p:spPr>
      </p:pic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14C1C502-80DA-D8CB-78FC-5DB38C5F52FC}"/>
              </a:ext>
            </a:extLst>
          </p:cNvPr>
          <p:cNvSpPr/>
          <p:nvPr/>
        </p:nvSpPr>
        <p:spPr>
          <a:xfrm>
            <a:off x="-88490" y="-98323"/>
            <a:ext cx="1092100" cy="928367"/>
          </a:xfrm>
          <a:prstGeom prst="roundRect">
            <a:avLst/>
          </a:prstGeom>
          <a:solidFill>
            <a:srgbClr val="6366F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00C208AF-C04B-7390-DC38-0FF3C09A80A6}"/>
              </a:ext>
            </a:extLst>
          </p:cNvPr>
          <p:cNvSpPr/>
          <p:nvPr/>
        </p:nvSpPr>
        <p:spPr>
          <a:xfrm>
            <a:off x="11169805" y="5951458"/>
            <a:ext cx="1169679" cy="1082833"/>
          </a:xfrm>
          <a:prstGeom prst="roundRect">
            <a:avLst/>
          </a:prstGeom>
          <a:solidFill>
            <a:srgbClr val="6366F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6B865C01-F7CE-2EF5-F2EB-83D06DD70EE6}"/>
              </a:ext>
            </a:extLst>
          </p:cNvPr>
          <p:cNvSpPr/>
          <p:nvPr/>
        </p:nvSpPr>
        <p:spPr>
          <a:xfrm>
            <a:off x="-88490" y="-98323"/>
            <a:ext cx="857924" cy="773688"/>
          </a:xfrm>
          <a:prstGeom prst="roundRect">
            <a:avLst/>
          </a:prstGeom>
          <a:solidFill>
            <a:srgbClr val="6366F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35E1DDBB-09E0-6989-CBCC-ED59A6199FE0}"/>
              </a:ext>
            </a:extLst>
          </p:cNvPr>
          <p:cNvSpPr/>
          <p:nvPr/>
        </p:nvSpPr>
        <p:spPr>
          <a:xfrm>
            <a:off x="11422565" y="6139440"/>
            <a:ext cx="916919" cy="894851"/>
          </a:xfrm>
          <a:prstGeom prst="roundRect">
            <a:avLst/>
          </a:prstGeom>
          <a:solidFill>
            <a:srgbClr val="6366F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2622087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F32F46-656C-D11F-372A-90D864B32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часть: страница практика </a:t>
            </a: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5B85303C-8884-9219-3CF2-92D7A0BE5A6B}"/>
              </a:ext>
            </a:extLst>
          </p:cNvPr>
          <p:cNvGrpSpPr/>
          <p:nvPr/>
        </p:nvGrpSpPr>
        <p:grpSpPr>
          <a:xfrm>
            <a:off x="1808539" y="1325563"/>
            <a:ext cx="8574922" cy="5507036"/>
            <a:chOff x="5220168" y="1528762"/>
            <a:chExt cx="7213600" cy="5532437"/>
          </a:xfrm>
        </p:grpSpPr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12D176C7-5B23-621A-7853-AC9B52943E71}"/>
                </a:ext>
              </a:extLst>
            </p:cNvPr>
            <p:cNvSpPr/>
            <p:nvPr/>
          </p:nvSpPr>
          <p:spPr>
            <a:xfrm>
              <a:off x="5220168" y="1528762"/>
              <a:ext cx="7213600" cy="5532437"/>
            </a:xfrm>
            <a:prstGeom prst="rect">
              <a:avLst/>
            </a:prstGeom>
            <a:solidFill>
              <a:srgbClr val="6366F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7DAA9BDB-8280-01D7-7625-18BC9D65205A}"/>
                </a:ext>
              </a:extLst>
            </p:cNvPr>
            <p:cNvGrpSpPr/>
            <p:nvPr/>
          </p:nvGrpSpPr>
          <p:grpSpPr>
            <a:xfrm>
              <a:off x="5560126" y="1757362"/>
              <a:ext cx="6688667" cy="5067420"/>
              <a:chOff x="4233289" y="5109791"/>
              <a:chExt cx="7772400" cy="6015894"/>
            </a:xfrm>
          </p:grpSpPr>
          <p:pic>
            <p:nvPicPr>
              <p:cNvPr id="6" name="Рисунок 5">
                <a:extLst>
                  <a:ext uri="{FF2B5EF4-FFF2-40B4-BE49-F238E27FC236}">
                    <a16:creationId xmlns:a16="http://schemas.microsoft.com/office/drawing/2014/main" id="{4E7D0E9A-6A43-8A40-64DC-DD0DA9BE93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233289" y="5109791"/>
                <a:ext cx="7772400" cy="4436083"/>
              </a:xfrm>
              <a:prstGeom prst="rect">
                <a:avLst/>
              </a:prstGeom>
            </p:spPr>
          </p:pic>
          <p:pic>
            <p:nvPicPr>
              <p:cNvPr id="7" name="Рисунок 6">
                <a:extLst>
                  <a:ext uri="{FF2B5EF4-FFF2-40B4-BE49-F238E27FC236}">
                    <a16:creationId xmlns:a16="http://schemas.microsoft.com/office/drawing/2014/main" id="{9BF55FE4-E288-2561-17D4-B9130991D7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233289" y="6689603"/>
                <a:ext cx="7772400" cy="443608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57437960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FC4F89-6660-16E4-6002-4D490F79D329}"/>
              </a:ext>
            </a:extLst>
          </p:cNvPr>
          <p:cNvSpPr txBox="1"/>
          <p:nvPr/>
        </p:nvSpPr>
        <p:spPr>
          <a:xfrm>
            <a:off x="5541264" y="31089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FA1CCD-7AA7-06AF-7668-79959E11DD2D}"/>
              </a:ext>
            </a:extLst>
          </p:cNvPr>
          <p:cNvSpPr txBox="1"/>
          <p:nvPr/>
        </p:nvSpPr>
        <p:spPr>
          <a:xfrm>
            <a:off x="5286376" y="-27658"/>
            <a:ext cx="5172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Видео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compressed_zapis__ekrana_2026-04-24_v_6.03.14_pm">
            <a:hlinkClick r:id="" action="ppaction://media"/>
            <a:extLst>
              <a:ext uri="{FF2B5EF4-FFF2-40B4-BE49-F238E27FC236}">
                <a16:creationId xmlns:a16="http://schemas.microsoft.com/office/drawing/2014/main" id="{F1F93F00-8D5E-A12A-1D60-247F84B9747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39220" y="398584"/>
            <a:ext cx="11266468" cy="6461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5952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96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Фигура, имеющая форму буквы L 2">
            <a:extLst>
              <a:ext uri="{FF2B5EF4-FFF2-40B4-BE49-F238E27FC236}">
                <a16:creationId xmlns:a16="http://schemas.microsoft.com/office/drawing/2014/main" id="{1CF76CFA-136F-64C9-0A9D-B6FF8DE50D3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rot="5400000">
            <a:off x="0" y="0"/>
            <a:ext cx="1210235" cy="1210235"/>
          </a:xfrm>
          <a:prstGeom prst="corner">
            <a:avLst/>
          </a:prstGeom>
          <a:solidFill>
            <a:srgbClr val="6366F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6366F1"/>
              </a:solidFill>
            </a:endParaRPr>
          </a:p>
        </p:txBody>
      </p:sp>
      <p:sp>
        <p:nvSpPr>
          <p:cNvPr id="5" name="Фигура, имеющая форму буквы L 4">
            <a:extLst>
              <a:ext uri="{FF2B5EF4-FFF2-40B4-BE49-F238E27FC236}">
                <a16:creationId xmlns:a16="http://schemas.microsoft.com/office/drawing/2014/main" id="{D1029B0E-DF5C-7AB6-D061-0DBD31618B5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-1" y="5647765"/>
            <a:ext cx="1210235" cy="1210235"/>
          </a:xfrm>
          <a:prstGeom prst="corner">
            <a:avLst/>
          </a:prstGeom>
          <a:solidFill>
            <a:srgbClr val="6366F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Фигура, имеющая форму буквы L 5">
            <a:extLst>
              <a:ext uri="{FF2B5EF4-FFF2-40B4-BE49-F238E27FC236}">
                <a16:creationId xmlns:a16="http://schemas.microsoft.com/office/drawing/2014/main" id="{9E794DB1-BC92-E440-FFFB-9E91F152176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 rot="10800000">
            <a:off x="10981765" y="-1"/>
            <a:ext cx="1210235" cy="1210235"/>
          </a:xfrm>
          <a:prstGeom prst="corner">
            <a:avLst/>
          </a:prstGeom>
          <a:solidFill>
            <a:srgbClr val="6366F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Фигура, имеющая форму буквы L 6">
            <a:extLst>
              <a:ext uri="{FF2B5EF4-FFF2-40B4-BE49-F238E27FC236}">
                <a16:creationId xmlns:a16="http://schemas.microsoft.com/office/drawing/2014/main" id="{B289EC2F-6220-5311-5185-6F2313E27830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 rot="16200000">
            <a:off x="10981765" y="5647764"/>
            <a:ext cx="1210235" cy="1210235"/>
          </a:xfrm>
          <a:prstGeom prst="corner">
            <a:avLst/>
          </a:prstGeom>
          <a:solidFill>
            <a:srgbClr val="6366F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56E5A4-BA80-613C-430C-4E35265A72E7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521941" y="-15767"/>
            <a:ext cx="71481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>
                <a:latin typeface="Times New Roman" panose="02020603050405020304" pitchFamily="18" charset="0"/>
                <a:cs typeface="Times New Roman" panose="02020603050405020304" pitchFamily="18" charset="0"/>
              </a:rPr>
              <a:t>Планы на улучшение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FC8337-7A61-690A-4636-5306046EA43F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210234" y="1888152"/>
            <a:ext cx="6463862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Возможности:</a:t>
            </a:r>
          </a:p>
          <a:p>
            <a:pPr>
              <a:lnSpc>
                <a:spcPct val="150000"/>
              </a:lnSpc>
            </a:pPr>
            <a:endParaRPr lang="ru-RU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Мобильная версия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компиляции других языков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Добавить панель учителя</a:t>
            </a:r>
          </a:p>
        </p:txBody>
      </p:sp>
      <p:pic>
        <p:nvPicPr>
          <p:cNvPr id="8194" name="Picture 2" descr="Picture background">
            <a:extLst>
              <a:ext uri="{FF2B5EF4-FFF2-40B4-BE49-F238E27FC236}">
                <a16:creationId xmlns:a16="http://schemas.microsoft.com/office/drawing/2014/main" id="{D532C997-F70C-E170-8B5D-FC920626EA7E}"/>
              </a:ext>
            </a:extLst>
          </p:cNvPr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894320" y="2298055"/>
            <a:ext cx="3551475" cy="1958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255596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E21E9A-266E-F940-7C8E-ED4EF6FB442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89114" y="2234003"/>
            <a:ext cx="809707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 полный цикл: от замысла до реализации. Проект готов для масштабирования и может быть полезен как для обучения, так и для решения реальных задач. В рамках этого проекта были выполнены поставленные задачи: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Разработала архитектуру приложения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Создала БД и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Реализовала функционал обучения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Внедрила геймификацию и ИИ</a:t>
            </a: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9C4712A-5460-5130-2C4C-EE97D80053F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75861" y="477078"/>
            <a:ext cx="3180522" cy="728870"/>
          </a:xfrm>
          <a:prstGeom prst="roundRect">
            <a:avLst/>
          </a:prstGeom>
          <a:solidFill>
            <a:srgbClr val="6366F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D586E690-7227-5D0B-13D3-3FBFCD6BC63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38200" y="569843"/>
            <a:ext cx="3203713" cy="795131"/>
          </a:xfrm>
          <a:prstGeom prst="roundRect">
            <a:avLst/>
          </a:prstGeom>
          <a:solidFill>
            <a:schemeClr val="bg1"/>
          </a:solidFill>
          <a:ln>
            <a:solidFill>
              <a:srgbClr val="636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C12B5B-939E-3520-9F88-8BF8B47B77B9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838200" y="304626"/>
            <a:ext cx="10515600" cy="1325563"/>
          </a:xfrm>
        </p:spPr>
        <p:txBody>
          <a:bodyPr/>
          <a:lstStyle/>
          <a:p>
            <a:r>
              <a:rPr lang="ru-RU"/>
              <a:t>Заключение</a:t>
            </a:r>
          </a:p>
        </p:txBody>
      </p:sp>
    </p:spTree>
    <p:extLst>
      <p:ext uri="{BB962C8B-B14F-4D97-AF65-F5344CB8AC3E}">
        <p14:creationId xmlns:p14="http://schemas.microsoft.com/office/powerpoint/2010/main" val="394806964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10.0.14393.0"/>
  <p:tag name="AS_RELEASE_DATE" val="2019.12.14"/>
  <p:tag name="AS_TITLE" val="Aspose.Slides for .NET 4.0 Client Profile"/>
  <p:tag name="AS_VERSION" val="19.1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7236</TotalTime>
  <Words>356</Words>
  <Application>Microsoft Macintosh PowerPoint</Application>
  <PresentationFormat>Широкоэкранный</PresentationFormat>
  <Paragraphs>76</Paragraphs>
  <Slides>16</Slides>
  <Notes>0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Тема Office</vt:lpstr>
      <vt:lpstr>Компьютерная Академия ТОП</vt:lpstr>
      <vt:lpstr>Презентация PowerPoint</vt:lpstr>
      <vt:lpstr>Презентация PowerPoint</vt:lpstr>
      <vt:lpstr>Инструменты и технологии</vt:lpstr>
      <vt:lpstr>Инструменты и технологии</vt:lpstr>
      <vt:lpstr>Инструменты и технологии</vt:lpstr>
      <vt:lpstr>UML диаграмма вариантов использования</vt:lpstr>
      <vt:lpstr>UML диаграмма классов</vt:lpstr>
      <vt:lpstr>Теоретическая часть: архитектурные подходы</vt:lpstr>
      <vt:lpstr>Теоретическая часть: повышения уровня</vt:lpstr>
      <vt:lpstr>Практическая часть: страница входа и регистрации </vt:lpstr>
      <vt:lpstr>Практическая часть: страница профиля</vt:lpstr>
      <vt:lpstr>Практическая часть: страница практика </vt:lpstr>
      <vt:lpstr>Презентация PowerPoint</vt:lpstr>
      <vt:lpstr>Презентация PowerPoint</vt:lpstr>
      <vt:lpstr>Заключение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Тимофей 211 комната</dc:creator>
  <cp:keywords/>
  <dc:description/>
  <cp:lastModifiedBy>Тимофей 211 комната</cp:lastModifiedBy>
  <cp:revision>18</cp:revision>
  <dcterms:created xsi:type="dcterms:W3CDTF">2026-04-12T23:27:04Z</dcterms:created>
  <dcterms:modified xsi:type="dcterms:W3CDTF">2026-04-24T20:33:16Z</dcterms:modified>
  <cp:category/>
</cp:coreProperties>
</file>